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65857"/>
            <a:ext cx="4143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Cardápio Escolar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28625" y="2205968"/>
            <a:ext cx="4143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Full-Stack com Scrum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2920343"/>
            <a:ext cx="57150" cy="5715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592931" y="2834618"/>
            <a:ext cx="24838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Projeto Acadêmico de Engenharia de Software</a:t>
            </a:r>
            <a:endParaRPr lang="en-US" sz="837" dirty="0"/>
          </a:p>
        </p:txBody>
      </p:sp>
      <p:sp>
        <p:nvSpPr>
          <p:cNvPr id="7" name="Shape 4"/>
          <p:cNvSpPr/>
          <p:nvPr/>
        </p:nvSpPr>
        <p:spPr>
          <a:xfrm>
            <a:off x="428625" y="3256099"/>
            <a:ext cx="57150" cy="5715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5"/>
          <p:cNvSpPr/>
          <p:nvPr/>
        </p:nvSpPr>
        <p:spPr>
          <a:xfrm>
            <a:off x="592931" y="3170374"/>
            <a:ext cx="211203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Front-end e Back-end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428625" y="3591855"/>
            <a:ext cx="57150" cy="5715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592931" y="3506130"/>
            <a:ext cx="13511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 Ágil - Scrum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428625" y="3927611"/>
            <a:ext cx="57150" cy="5715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9"/>
          <p:cNvSpPr/>
          <p:nvPr/>
        </p:nvSpPr>
        <p:spPr>
          <a:xfrm>
            <a:off x="592931" y="3841886"/>
            <a:ext cx="9118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Outubro de 2025</a:t>
            </a:r>
            <a:endParaRPr lang="en-US" sz="8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o Sistema de Cardápio Escolar?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4000500" cy="25658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64431"/>
            <a:ext cx="35719" cy="256583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378744"/>
            <a:ext cx="357187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Sistema de Cardápio Escolar é uma aplicação web desenvolvida com metodologia Scrum que permite alunos consultarem o cardápio da semana, avaliarem refeições e deixarem comentários, enquanto administradores gerenciam o cardápio e acompanham a satisfação dos alunos através de relatórios de avaliações. 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642938" y="2550207"/>
            <a:ext cx="35718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Trata-se de um projeto acadêmico completo que demonstra o desenvolvimento full-stack, integrando front-end responsivo, back-end robusto e banco de dados estruturado. 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4714875" y="1164431"/>
            <a:ext cx="4000500" cy="23601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714875" y="1164431"/>
            <a:ext cx="35719" cy="236011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4929188" y="1378744"/>
            <a:ext cx="3571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Principais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929188" y="1757363"/>
            <a:ext cx="42863" cy="42863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5057775" y="1714500"/>
            <a:ext cx="34432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Facilitar a comunicação entre escola e alunos sobre refeições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4929188" y="2024528"/>
            <a:ext cx="42863" cy="42863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1"/>
          <p:cNvSpPr/>
          <p:nvPr/>
        </p:nvSpPr>
        <p:spPr>
          <a:xfrm>
            <a:off x="5057775" y="1981665"/>
            <a:ext cx="34432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Coletar feedback dos alunos de forma estruturada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4929188" y="2291693"/>
            <a:ext cx="42863" cy="42863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3"/>
          <p:cNvSpPr/>
          <p:nvPr/>
        </p:nvSpPr>
        <p:spPr>
          <a:xfrm>
            <a:off x="5057775" y="2248830"/>
            <a:ext cx="34432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Permitir que administradores identifiquem pontos de melhoria</a:t>
            </a:r>
            <a:endParaRPr lang="en-US" sz="732" dirty="0"/>
          </a:p>
        </p:txBody>
      </p:sp>
      <p:sp>
        <p:nvSpPr>
          <p:cNvPr id="17" name="Shape 14"/>
          <p:cNvSpPr/>
          <p:nvPr/>
        </p:nvSpPr>
        <p:spPr>
          <a:xfrm>
            <a:off x="4929188" y="2558858"/>
            <a:ext cx="42863" cy="42863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5"/>
          <p:cNvSpPr/>
          <p:nvPr/>
        </p:nvSpPr>
        <p:spPr>
          <a:xfrm>
            <a:off x="5057775" y="2515995"/>
            <a:ext cx="34432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Demonstrar desenvolvimento full-stack em ambiente acadêmico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1: Funcionalidades Fundamentais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2ECC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219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🔐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7219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US01</a:t>
            </a:r>
            <a:endParaRPr lang="en-US" sz="628" dirty="0"/>
          </a:p>
        </p:txBody>
      </p:sp>
      <p:sp>
        <p:nvSpPr>
          <p:cNvPr id="7" name="Text 4"/>
          <p:cNvSpPr/>
          <p:nvPr/>
        </p:nvSpPr>
        <p:spPr>
          <a:xfrm>
            <a:off x="607219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Autenticação de Usuários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607219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usuário, eu quero fazer login no sistema com minhas credenciais, para que eu tenha acesso às funcionalidades permitidas para meu perfil. 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3250406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📝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29000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US02</a:t>
            </a:r>
            <a:endParaRPr lang="en-US" sz="628" dirty="0"/>
          </a:p>
        </p:txBody>
      </p:sp>
      <p:sp>
        <p:nvSpPr>
          <p:cNvPr id="12" name="Text 9"/>
          <p:cNvSpPr/>
          <p:nvPr/>
        </p:nvSpPr>
        <p:spPr>
          <a:xfrm>
            <a:off x="3429000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Gerenciamento de Cardápio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429000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administrador, eu quero cadastrar e editar o cardápio da semana, informando os pratos de cada dia, para que os alunos saibam o que será servido. </a:t>
            </a:r>
            <a:endParaRPr lang="en-US" sz="732" dirty="0"/>
          </a:p>
        </p:txBody>
      </p:sp>
      <p:sp>
        <p:nvSpPr>
          <p:cNvPr id="14" name="Shape 11"/>
          <p:cNvSpPr/>
          <p:nvPr/>
        </p:nvSpPr>
        <p:spPr>
          <a:xfrm>
            <a:off x="6072188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0781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👀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50781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US03</a:t>
            </a:r>
            <a:endParaRPr lang="en-US" sz="628" dirty="0"/>
          </a:p>
        </p:txBody>
      </p:sp>
      <p:sp>
        <p:nvSpPr>
          <p:cNvPr id="17" name="Text 14"/>
          <p:cNvSpPr/>
          <p:nvPr/>
        </p:nvSpPr>
        <p:spPr>
          <a:xfrm>
            <a:off x="6250781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Consulta de Cardápio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6250781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aluno, eu quero consultar o cardápio da semana em uma interface simples, para que eu possa ver as refeições planejadas. 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2: Feedback e Relatórios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3498D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219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7219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US04</a:t>
            </a:r>
            <a:endParaRPr lang="en-US" sz="628" dirty="0"/>
          </a:p>
        </p:txBody>
      </p:sp>
      <p:sp>
        <p:nvSpPr>
          <p:cNvPr id="7" name="Text 4"/>
          <p:cNvSpPr/>
          <p:nvPr/>
        </p:nvSpPr>
        <p:spPr>
          <a:xfrm>
            <a:off x="607219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Avaliação de Refeições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607219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aluno, eu quero dar uma avaliação para a refeição de um dia específico, para que a escola saiba meu nível de satisfação. 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3250406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3498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0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29000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US05</a:t>
            </a:r>
            <a:endParaRPr lang="en-US" sz="628" dirty="0"/>
          </a:p>
        </p:txBody>
      </p:sp>
      <p:sp>
        <p:nvSpPr>
          <p:cNvPr id="12" name="Text 9"/>
          <p:cNvSpPr/>
          <p:nvPr/>
        </p:nvSpPr>
        <p:spPr>
          <a:xfrm>
            <a:off x="3429000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Comentários Detalhados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429000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aluno, eu quero escrever um comentário sobre a refeição, para que eu possa dar um feedback mais detalhado sobre o que gostei ou não. </a:t>
            </a:r>
            <a:endParaRPr lang="en-US" sz="732" dirty="0"/>
          </a:p>
        </p:txBody>
      </p:sp>
      <p:sp>
        <p:nvSpPr>
          <p:cNvPr id="14" name="Shape 11"/>
          <p:cNvSpPr/>
          <p:nvPr/>
        </p:nvSpPr>
        <p:spPr>
          <a:xfrm>
            <a:off x="6072188" y="1164431"/>
            <a:ext cx="2643188" cy="2000250"/>
          </a:xfrm>
          <a:prstGeom prst="rect">
            <a:avLst/>
          </a:prstGeom>
          <a:solidFill>
            <a:srgbClr val="FFFFFF"/>
          </a:solidFill>
          <a:ln w="496">
            <a:solidFill>
              <a:srgbClr val="3498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0781" y="1343025"/>
            <a:ext cx="228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50781" y="1757363"/>
            <a:ext cx="22860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US06</a:t>
            </a:r>
            <a:endParaRPr lang="en-US" sz="628" dirty="0"/>
          </a:p>
        </p:txBody>
      </p:sp>
      <p:sp>
        <p:nvSpPr>
          <p:cNvPr id="17" name="Text 14"/>
          <p:cNvSpPr/>
          <p:nvPr/>
        </p:nvSpPr>
        <p:spPr>
          <a:xfrm>
            <a:off x="6250781" y="1957388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Satisfação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6250781" y="2224553"/>
            <a:ext cx="2286000" cy="7615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Como um administrador, eu quero ver a média das avaliações e os comentários para cada prato, para que eu possa identificar pontos de melhoria na merenda. 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Arquitetura Técnica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2666991" cy="3214688"/>
          </a:xfrm>
          <a:prstGeom prst="rect">
            <a:avLst/>
          </a:prstGeom>
          <a:solidFill>
            <a:srgbClr val="FFFFFF"/>
          </a:solidFill>
          <a:ln w="595">
            <a:solidFill>
              <a:srgbClr val="2ECC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378744"/>
            <a:ext cx="223836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🎨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2938" y="2000250"/>
            <a:ext cx="22383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Front-end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42938" y="2443163"/>
            <a:ext cx="22383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95A5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Apresentação</a:t>
            </a:r>
            <a:endParaRPr lang="en-US" sz="628" dirty="0"/>
          </a:p>
        </p:txBody>
      </p:sp>
      <p:sp>
        <p:nvSpPr>
          <p:cNvPr id="8" name="Text 5"/>
          <p:cNvSpPr/>
          <p:nvPr/>
        </p:nvSpPr>
        <p:spPr>
          <a:xfrm>
            <a:off x="642938" y="2657475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HTML5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642938" y="2853928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CSS3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42938" y="3050381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JavaScript Vanilla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42938" y="3353991"/>
            <a:ext cx="2238366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Interface responsiva que comunica com o back-end através de requisições HTTP (fetch API). Manipulação do DOM, validação de entrada e renderização dinâmica de dados. 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3238491" y="1164431"/>
            <a:ext cx="2666991" cy="3214688"/>
          </a:xfrm>
          <a:prstGeom prst="rect">
            <a:avLst/>
          </a:prstGeom>
          <a:solidFill>
            <a:srgbClr val="FFFFFF"/>
          </a:solidFill>
          <a:ln w="595">
            <a:solidFill>
              <a:srgbClr val="3498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52803" y="1378744"/>
            <a:ext cx="223836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⚙️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3452803" y="2000250"/>
            <a:ext cx="223836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Back-end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452803" y="2443163"/>
            <a:ext cx="22383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95A5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Lógica de Negócio</a:t>
            </a:r>
            <a:endParaRPr lang="en-US" sz="628" dirty="0"/>
          </a:p>
        </p:txBody>
      </p:sp>
      <p:sp>
        <p:nvSpPr>
          <p:cNvPr id="16" name="Text 13"/>
          <p:cNvSpPr/>
          <p:nvPr/>
        </p:nvSpPr>
        <p:spPr>
          <a:xfrm>
            <a:off x="3452803" y="2657475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Python 3.11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452803" y="2853928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Flask 2.3.3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3452803" y="3050381"/>
            <a:ext cx="2238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Flask-CORS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3452803" y="3353991"/>
            <a:ext cx="2238366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API REST que processa requisições, valida dados, executa lógica de negócio e coordena com o banco de dados. Endpoints para autenticação, cardápio, avaliações e relatórios. 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6048356" y="1164431"/>
            <a:ext cx="2667019" cy="3214688"/>
          </a:xfrm>
          <a:prstGeom prst="rect">
            <a:avLst/>
          </a:prstGeom>
          <a:solidFill>
            <a:srgbClr val="FFFFFF"/>
          </a:solidFill>
          <a:ln w="595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2669" y="1378744"/>
            <a:ext cx="223839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💾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6262669" y="2000250"/>
            <a:ext cx="22383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 de Dados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262669" y="2443163"/>
            <a:ext cx="22383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spc="1" kern="0" dirty="0">
                <a:solidFill>
                  <a:srgbClr val="95A5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Persistência</a:t>
            </a:r>
            <a:endParaRPr lang="en-US" sz="628" dirty="0"/>
          </a:p>
        </p:txBody>
      </p:sp>
      <p:sp>
        <p:nvSpPr>
          <p:cNvPr id="24" name="Text 21"/>
          <p:cNvSpPr/>
          <p:nvPr/>
        </p:nvSpPr>
        <p:spPr>
          <a:xfrm>
            <a:off x="6262669" y="2657475"/>
            <a:ext cx="22383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SQLite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262669" y="2853928"/>
            <a:ext cx="22383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4 Tabelas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6262669" y="3050381"/>
            <a:ext cx="22383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Relacionamentos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6262669" y="3353991"/>
            <a:ext cx="2238394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Armazenamento relacional de usuários, cardápio, avaliações e comentários. Integridade referencial, índices e queries otimizadas para consultas frequentes. 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249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Stack Tecnológico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4000500" cy="29360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64431"/>
            <a:ext cx="35719" cy="293608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378744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⚙️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28688" y="1400175"/>
            <a:ext cx="6590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Back-end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642938" y="1814513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 3.11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642938" y="2000250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Linguagem de programação versátil e legível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42938" y="2396728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Flask 2.3.3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642938" y="2582466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web leve para APIs REST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642938" y="2978944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Flask-CORS 4.0.0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642938" y="3164681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Suporte a requisições cross-origin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642938" y="3561159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SQLite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642938" y="3746897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 de dados relacional leve e portável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4714875" y="1164431"/>
            <a:ext cx="4000500" cy="29360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714875" y="1164431"/>
            <a:ext cx="35719" cy="293608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4929188" y="1378744"/>
            <a:ext cx="2143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🎨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14938" y="1400175"/>
            <a:ext cx="6995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Front-end 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4929188" y="1814513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HTML5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4929188" y="2000250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Markup semântico e estruturado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4929188" y="2396728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CSS3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4929188" y="2582466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Estilização com Grid e Flexbox responsivos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929188" y="2978944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 Vanilla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4929188" y="3164681"/>
            <a:ext cx="3571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 frameworks externos, puro e direto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28625" y="4529138"/>
            <a:ext cx="8286750" cy="1238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4529138"/>
            <a:ext cx="35719" cy="123865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5"/>
          <p:cNvSpPr/>
          <p:nvPr/>
        </p:nvSpPr>
        <p:spPr>
          <a:xfrm>
            <a:off x="642938" y="4743450"/>
            <a:ext cx="78581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 Que Essas Tecnologias?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42938" y="5043488"/>
            <a:ext cx="785812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Escolhemos um stack simples e direto que permite desenvolvimento rápido, fácil manutenção e demonstração clara em ambiente acadêmico. Sem dependências complexas, o projeto é portável e pode ser executado em qualquer máquina com Python instalado. As tecnologias escolhidas são amplamente utilizadas na indústria e fornecem uma base sólida para aprendizado de conceitos full-stack. 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177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de Dados - Tabelas Principais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092994"/>
            <a:ext cx="4054078" cy="2338797"/>
          </a:xfrm>
          <a:prstGeom prst="rect">
            <a:avLst/>
          </a:prstGeom>
          <a:solidFill>
            <a:srgbClr val="FFFFFF"/>
          </a:solidFill>
          <a:ln w="397">
            <a:solidFill>
              <a:srgbClr val="2ECC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235869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👤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803672" y="1246584"/>
            <a:ext cx="9225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Tabela: usuarios 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571500" y="1593056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2455664" y="1593056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(PK)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71500" y="1881653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2455664" y="1881653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571500" y="2170249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2455664" y="2170249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(UNIQUE)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571500" y="2458845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senha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2455664" y="2458845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571500" y="274744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2455664" y="274744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571500" y="303603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criado_em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2455664" y="303603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TIMESTAMP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4661297" y="1092994"/>
            <a:ext cx="4054078" cy="2338797"/>
          </a:xfrm>
          <a:prstGeom prst="rect">
            <a:avLst/>
          </a:prstGeom>
          <a:solidFill>
            <a:srgbClr val="FFFFFF"/>
          </a:solidFill>
          <a:ln w="397">
            <a:solidFill>
              <a:srgbClr val="2ECC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4172" y="1235869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🍽️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036344" y="1246584"/>
            <a:ext cx="9289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Tabela: cardapio 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4804172" y="1593056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6688336" y="1593056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(PK)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804172" y="1881653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dia_semana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688336" y="1881653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804172" y="2170249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6688336" y="2170249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804172" y="2458845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prato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688336" y="2458845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4804172" y="274744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descricao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6688336" y="274744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4804172" y="303603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criado_em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6688336" y="303603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TIMESTAMP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428625" y="3581809"/>
            <a:ext cx="4054078" cy="2050200"/>
          </a:xfrm>
          <a:prstGeom prst="rect">
            <a:avLst/>
          </a:prstGeom>
          <a:solidFill>
            <a:srgbClr val="FFFFFF"/>
          </a:solidFill>
          <a:ln w="397">
            <a:solidFill>
              <a:srgbClr val="2ECC7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1500" y="3724684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803672" y="3735400"/>
            <a:ext cx="10279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Tabela: avaliacoes 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571500" y="408187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2455664" y="408187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(PK)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571500" y="437046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usuario_id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2455664" y="437046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(FK)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571500" y="4659064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cardapio_id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2455664" y="4659064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(FK)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571500" y="4947661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nota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2455664" y="4947661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(1-5)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571500" y="5236257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criado_em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2455664" y="5236257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TIMESTAMP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4661297" y="3581809"/>
            <a:ext cx="4054078" cy="2050200"/>
          </a:xfrm>
          <a:prstGeom prst="rect">
            <a:avLst/>
          </a:prstGeom>
          <a:solidFill>
            <a:srgbClr val="FFFFFF"/>
          </a:solidFill>
          <a:ln w="397">
            <a:solidFill>
              <a:srgbClr val="2ECC7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04172" y="3724684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5036344" y="3735400"/>
            <a:ext cx="11495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Tabela: comentarios </a:t>
            </a:r>
            <a:endParaRPr lang="en-US" sz="837" dirty="0"/>
          </a:p>
        </p:txBody>
      </p:sp>
      <p:sp>
        <p:nvSpPr>
          <p:cNvPr id="50" name="Text 47"/>
          <p:cNvSpPr/>
          <p:nvPr/>
        </p:nvSpPr>
        <p:spPr>
          <a:xfrm>
            <a:off x="4804172" y="408187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6688336" y="4081872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(PK)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4804172" y="437046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usuario_id</a:t>
            </a:r>
            <a:endParaRPr lang="en-US" sz="680" dirty="0"/>
          </a:p>
        </p:txBody>
      </p:sp>
      <p:sp>
        <p:nvSpPr>
          <p:cNvPr id="53" name="Text 50"/>
          <p:cNvSpPr/>
          <p:nvPr/>
        </p:nvSpPr>
        <p:spPr>
          <a:xfrm>
            <a:off x="6688336" y="4370468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(FK)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4804172" y="4659064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cardapio_id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6688336" y="4659064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 (FK)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4804172" y="4947661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texto</a:t>
            </a:r>
            <a:endParaRPr lang="en-US" sz="680" dirty="0"/>
          </a:p>
        </p:txBody>
      </p:sp>
      <p:sp>
        <p:nvSpPr>
          <p:cNvPr id="57" name="Text 54"/>
          <p:cNvSpPr/>
          <p:nvPr/>
        </p:nvSpPr>
        <p:spPr>
          <a:xfrm>
            <a:off x="6688336" y="4947661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680" dirty="0"/>
          </a:p>
        </p:txBody>
      </p:sp>
      <p:sp>
        <p:nvSpPr>
          <p:cNvPr id="58" name="Text 55"/>
          <p:cNvSpPr/>
          <p:nvPr/>
        </p:nvSpPr>
        <p:spPr>
          <a:xfrm>
            <a:off x="4804172" y="5236257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criado_em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6688336" y="5236257"/>
            <a:ext cx="18841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80" i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TIMESTAMP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3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Relacionamentos e Integridade de Dados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85750" y="857250"/>
            <a:ext cx="4214813" cy="2368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57250"/>
            <a:ext cx="35719" cy="23688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3"/>
          <p:cNvSpPr/>
          <p:nvPr/>
        </p:nvSpPr>
        <p:spPr>
          <a:xfrm>
            <a:off x="414338" y="985838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🔗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46509" y="996553"/>
            <a:ext cx="9874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Relacionamentos 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414338" y="1285875"/>
            <a:ext cx="3957638" cy="137154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 usuário faz múltiplas avaliações sobre diferentes refeições </a:t>
            </a:r>
            <a:endParaRPr lang="en-US" sz="628" dirty="0"/>
          </a:p>
        </p:txBody>
      </p:sp>
      <p:sp>
        <p:nvSpPr>
          <p:cNvPr id="9" name="Text 6"/>
          <p:cNvSpPr/>
          <p:nvPr/>
        </p:nvSpPr>
        <p:spPr>
          <a:xfrm>
            <a:off x="414338" y="1494467"/>
            <a:ext cx="3957638" cy="137154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 usuário escreve múltiplos comentários sobre diferentes refeições </a:t>
            </a:r>
            <a:endParaRPr lang="en-US" sz="628" dirty="0"/>
          </a:p>
        </p:txBody>
      </p:sp>
      <p:sp>
        <p:nvSpPr>
          <p:cNvPr id="10" name="Text 7"/>
          <p:cNvSpPr/>
          <p:nvPr/>
        </p:nvSpPr>
        <p:spPr>
          <a:xfrm>
            <a:off x="414338" y="1703059"/>
            <a:ext cx="3957638" cy="137154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Uma refeição recebe múltiplas avaliações de diferentes alunos </a:t>
            </a:r>
            <a:endParaRPr lang="en-US" sz="628" dirty="0"/>
          </a:p>
        </p:txBody>
      </p:sp>
      <p:sp>
        <p:nvSpPr>
          <p:cNvPr id="11" name="Text 8"/>
          <p:cNvSpPr/>
          <p:nvPr/>
        </p:nvSpPr>
        <p:spPr>
          <a:xfrm>
            <a:off x="414338" y="1911651"/>
            <a:ext cx="3957638" cy="137154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Uma refeição recebe múltiplos comentários de diferentes alunos </a:t>
            </a:r>
            <a:endParaRPr lang="en-US" sz="628" dirty="0"/>
          </a:p>
        </p:txBody>
      </p:sp>
      <p:sp>
        <p:nvSpPr>
          <p:cNvPr id="12" name="Shape 9"/>
          <p:cNvSpPr/>
          <p:nvPr/>
        </p:nvSpPr>
        <p:spPr>
          <a:xfrm>
            <a:off x="4643438" y="857250"/>
            <a:ext cx="4214813" cy="23688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3438" y="857250"/>
            <a:ext cx="35719" cy="2368823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4772025" y="985838"/>
            <a:ext cx="160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🛡️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004197" y="996553"/>
            <a:ext cx="13513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Integridade Referencial </a:t>
            </a:r>
            <a:endParaRPr lang="en-US" sz="837" dirty="0"/>
          </a:p>
        </p:txBody>
      </p:sp>
      <p:sp>
        <p:nvSpPr>
          <p:cNvPr id="16" name="Shape 13"/>
          <p:cNvSpPr/>
          <p:nvPr/>
        </p:nvSpPr>
        <p:spPr>
          <a:xfrm>
            <a:off x="4772025" y="1285875"/>
            <a:ext cx="3957638" cy="39932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772025" y="1285875"/>
            <a:ext cx="21431" cy="39932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4857750" y="1357313"/>
            <a:ext cx="37861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Chaves Primárias</a:t>
            </a:r>
            <a:endParaRPr lang="en-US" sz="575" dirty="0"/>
          </a:p>
        </p:txBody>
      </p:sp>
      <p:sp>
        <p:nvSpPr>
          <p:cNvPr id="19" name="Text 16"/>
          <p:cNvSpPr/>
          <p:nvPr/>
        </p:nvSpPr>
        <p:spPr>
          <a:xfrm>
            <a:off x="4857750" y="1503759"/>
            <a:ext cx="37861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Identificam unicamente cada registro</a:t>
            </a:r>
            <a:endParaRPr lang="en-US" sz="575" dirty="0"/>
          </a:p>
        </p:txBody>
      </p:sp>
      <p:sp>
        <p:nvSpPr>
          <p:cNvPr id="20" name="Shape 17"/>
          <p:cNvSpPr/>
          <p:nvPr/>
        </p:nvSpPr>
        <p:spPr>
          <a:xfrm>
            <a:off x="4772025" y="1756637"/>
            <a:ext cx="3957638" cy="39932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1" name="Shape 18"/>
          <p:cNvSpPr/>
          <p:nvPr/>
        </p:nvSpPr>
        <p:spPr>
          <a:xfrm>
            <a:off x="4772025" y="1756637"/>
            <a:ext cx="21431" cy="39932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19"/>
          <p:cNvSpPr/>
          <p:nvPr/>
        </p:nvSpPr>
        <p:spPr>
          <a:xfrm>
            <a:off x="4857750" y="1828074"/>
            <a:ext cx="37861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Chaves Estrangeiras</a:t>
            </a:r>
            <a:endParaRPr lang="en-US" sz="575" dirty="0"/>
          </a:p>
        </p:txBody>
      </p:sp>
      <p:sp>
        <p:nvSpPr>
          <p:cNvPr id="23" name="Text 20"/>
          <p:cNvSpPr/>
          <p:nvPr/>
        </p:nvSpPr>
        <p:spPr>
          <a:xfrm>
            <a:off x="4857750" y="1974521"/>
            <a:ext cx="37861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Garantem relacionamento válido</a:t>
            </a:r>
            <a:endParaRPr lang="en-US" sz="575" dirty="0"/>
          </a:p>
        </p:txBody>
      </p:sp>
      <p:sp>
        <p:nvSpPr>
          <p:cNvPr id="24" name="Shape 21"/>
          <p:cNvSpPr/>
          <p:nvPr/>
        </p:nvSpPr>
        <p:spPr>
          <a:xfrm>
            <a:off x="4772025" y="2227399"/>
            <a:ext cx="3957638" cy="39932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Shape 22"/>
          <p:cNvSpPr/>
          <p:nvPr/>
        </p:nvSpPr>
        <p:spPr>
          <a:xfrm>
            <a:off x="4772025" y="2227399"/>
            <a:ext cx="21431" cy="39932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2298836"/>
            <a:ext cx="37861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Restrições UNIQUE</a:t>
            </a:r>
            <a:endParaRPr lang="en-US" sz="575" dirty="0"/>
          </a:p>
        </p:txBody>
      </p:sp>
      <p:sp>
        <p:nvSpPr>
          <p:cNvPr id="27" name="Text 24"/>
          <p:cNvSpPr/>
          <p:nvPr/>
        </p:nvSpPr>
        <p:spPr>
          <a:xfrm>
            <a:off x="4857750" y="2445283"/>
            <a:ext cx="37861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 de usuário deve ser único</a:t>
            </a:r>
            <a:endParaRPr lang="en-US" sz="575" dirty="0"/>
          </a:p>
        </p:txBody>
      </p:sp>
      <p:sp>
        <p:nvSpPr>
          <p:cNvPr id="28" name="Shape 25"/>
          <p:cNvSpPr/>
          <p:nvPr/>
        </p:nvSpPr>
        <p:spPr>
          <a:xfrm>
            <a:off x="4772025" y="2698161"/>
            <a:ext cx="3957638" cy="399324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772025" y="2698161"/>
            <a:ext cx="21431" cy="39932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0" name="Text 27"/>
          <p:cNvSpPr/>
          <p:nvPr/>
        </p:nvSpPr>
        <p:spPr>
          <a:xfrm>
            <a:off x="4857750" y="2769598"/>
            <a:ext cx="37861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Restrições CHECK</a:t>
            </a:r>
            <a:endParaRPr lang="en-US" sz="575" dirty="0"/>
          </a:p>
        </p:txBody>
      </p:sp>
      <p:sp>
        <p:nvSpPr>
          <p:cNvPr id="31" name="Text 28"/>
          <p:cNvSpPr/>
          <p:nvPr/>
        </p:nvSpPr>
        <p:spPr>
          <a:xfrm>
            <a:off x="4857750" y="2916045"/>
            <a:ext cx="37861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Nota entre 1 e 5</a:t>
            </a:r>
            <a:endParaRPr lang="en-US" sz="575" dirty="0"/>
          </a:p>
        </p:txBody>
      </p:sp>
      <p:sp>
        <p:nvSpPr>
          <p:cNvPr id="32" name="Shape 29"/>
          <p:cNvSpPr/>
          <p:nvPr/>
        </p:nvSpPr>
        <p:spPr>
          <a:xfrm>
            <a:off x="285750" y="3368948"/>
            <a:ext cx="8572500" cy="1760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285750" y="3368948"/>
            <a:ext cx="35719" cy="176020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1"/>
          <p:cNvSpPr/>
          <p:nvPr/>
        </p:nvSpPr>
        <p:spPr>
          <a:xfrm>
            <a:off x="414338" y="3497535"/>
            <a:ext cx="83153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de Relacionamentos</a:t>
            </a:r>
            <a:endParaRPr lang="en-US" sz="837" dirty="0"/>
          </a:p>
        </p:txBody>
      </p:sp>
      <p:sp>
        <p:nvSpPr>
          <p:cNvPr id="35" name="Shape 32"/>
          <p:cNvSpPr/>
          <p:nvPr/>
        </p:nvSpPr>
        <p:spPr>
          <a:xfrm>
            <a:off x="414338" y="3776142"/>
            <a:ext cx="2025253" cy="540776"/>
          </a:xfrm>
          <a:prstGeom prst="rect">
            <a:avLst/>
          </a:prstGeom>
          <a:solidFill>
            <a:srgbClr val="F0F8FF"/>
          </a:solidFill>
          <a:ln w="198">
            <a:solidFill>
              <a:srgbClr val="3498D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775" y="3847579"/>
            <a:ext cx="18823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👤 Usuários</a:t>
            </a:r>
            <a:endParaRPr lang="en-US" sz="628" dirty="0"/>
          </a:p>
        </p:txBody>
      </p:sp>
      <p:sp>
        <p:nvSpPr>
          <p:cNvPr id="37" name="Text 34"/>
          <p:cNvSpPr/>
          <p:nvPr/>
        </p:nvSpPr>
        <p:spPr>
          <a:xfrm>
            <a:off x="485775" y="4019029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PK: id</a:t>
            </a:r>
            <a:endParaRPr lang="en-US" sz="471" dirty="0"/>
          </a:p>
        </p:txBody>
      </p:sp>
      <p:sp>
        <p:nvSpPr>
          <p:cNvPr id="38" name="Text 35"/>
          <p:cNvSpPr/>
          <p:nvPr/>
        </p:nvSpPr>
        <p:spPr>
          <a:xfrm>
            <a:off x="485775" y="4124037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23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</a:t>
            </a:r>
            <a:endParaRPr lang="en-US" sz="523" dirty="0"/>
          </a:p>
        </p:txBody>
      </p:sp>
      <p:sp>
        <p:nvSpPr>
          <p:cNvPr id="39" name="Text 36"/>
          <p:cNvSpPr/>
          <p:nvPr/>
        </p:nvSpPr>
        <p:spPr>
          <a:xfrm>
            <a:off x="2511028" y="3957219"/>
            <a:ext cx="2025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1:N</a:t>
            </a:r>
            <a:endParaRPr lang="en-US" sz="732" dirty="0"/>
          </a:p>
        </p:txBody>
      </p:sp>
      <p:sp>
        <p:nvSpPr>
          <p:cNvPr id="40" name="Shape 37"/>
          <p:cNvSpPr/>
          <p:nvPr/>
        </p:nvSpPr>
        <p:spPr>
          <a:xfrm>
            <a:off x="4607719" y="3777202"/>
            <a:ext cx="2025253" cy="510053"/>
          </a:xfrm>
          <a:prstGeom prst="rect">
            <a:avLst/>
          </a:prstGeom>
          <a:solidFill>
            <a:srgbClr val="F0F8FF"/>
          </a:solidFill>
          <a:ln w="198">
            <a:solidFill>
              <a:srgbClr val="3498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79156" y="3862927"/>
            <a:ext cx="18823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 Avaliações</a:t>
            </a:r>
            <a:endParaRPr lang="en-US" sz="628" dirty="0"/>
          </a:p>
        </p:txBody>
      </p:sp>
      <p:sp>
        <p:nvSpPr>
          <p:cNvPr id="42" name="Text 39"/>
          <p:cNvSpPr/>
          <p:nvPr/>
        </p:nvSpPr>
        <p:spPr>
          <a:xfrm>
            <a:off x="4679156" y="4034377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FK: usuario</a:t>
            </a:r>
            <a:endParaRPr lang="en-US" sz="471" dirty="0"/>
          </a:p>
        </p:txBody>
      </p:sp>
      <p:sp>
        <p:nvSpPr>
          <p:cNvPr id="43" name="Text 40"/>
          <p:cNvSpPr/>
          <p:nvPr/>
        </p:nvSpPr>
        <p:spPr>
          <a:xfrm>
            <a:off x="4679156" y="4117953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FK: cardápio</a:t>
            </a:r>
            <a:endParaRPr lang="en-US" sz="471" dirty="0"/>
          </a:p>
        </p:txBody>
      </p:sp>
      <p:sp>
        <p:nvSpPr>
          <p:cNvPr id="44" name="Text 41"/>
          <p:cNvSpPr/>
          <p:nvPr/>
        </p:nvSpPr>
        <p:spPr>
          <a:xfrm>
            <a:off x="6704409" y="3957219"/>
            <a:ext cx="2025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N:1</a:t>
            </a:r>
            <a:endParaRPr lang="en-US" sz="732" dirty="0"/>
          </a:p>
        </p:txBody>
      </p:sp>
      <p:sp>
        <p:nvSpPr>
          <p:cNvPr id="45" name="Shape 42"/>
          <p:cNvSpPr/>
          <p:nvPr/>
        </p:nvSpPr>
        <p:spPr>
          <a:xfrm>
            <a:off x="414338" y="4359780"/>
            <a:ext cx="2025253" cy="540776"/>
          </a:xfrm>
          <a:prstGeom prst="rect">
            <a:avLst/>
          </a:prstGeom>
          <a:solidFill>
            <a:srgbClr val="F0F8FF"/>
          </a:solidFill>
          <a:ln w="198">
            <a:solidFill>
              <a:srgbClr val="3498D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5775" y="4431218"/>
            <a:ext cx="18823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🍽️ Cardápio</a:t>
            </a:r>
            <a:endParaRPr lang="en-US" sz="628" dirty="0"/>
          </a:p>
        </p:txBody>
      </p:sp>
      <p:sp>
        <p:nvSpPr>
          <p:cNvPr id="47" name="Text 44"/>
          <p:cNvSpPr/>
          <p:nvPr/>
        </p:nvSpPr>
        <p:spPr>
          <a:xfrm>
            <a:off x="485775" y="4602668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PK: id</a:t>
            </a:r>
            <a:endParaRPr lang="en-US" sz="471" dirty="0"/>
          </a:p>
        </p:txBody>
      </p:sp>
      <p:sp>
        <p:nvSpPr>
          <p:cNvPr id="48" name="Text 45"/>
          <p:cNvSpPr/>
          <p:nvPr/>
        </p:nvSpPr>
        <p:spPr>
          <a:xfrm>
            <a:off x="485775" y="4707675"/>
            <a:ext cx="188237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23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prato</a:t>
            </a:r>
            <a:endParaRPr lang="en-US" sz="523" dirty="0"/>
          </a:p>
        </p:txBody>
      </p:sp>
      <p:sp>
        <p:nvSpPr>
          <p:cNvPr id="49" name="Text 46"/>
          <p:cNvSpPr/>
          <p:nvPr/>
        </p:nvSpPr>
        <p:spPr>
          <a:xfrm>
            <a:off x="2511028" y="4540858"/>
            <a:ext cx="2025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1:N</a:t>
            </a:r>
            <a:endParaRPr lang="en-US" sz="732" dirty="0"/>
          </a:p>
        </p:txBody>
      </p:sp>
      <p:sp>
        <p:nvSpPr>
          <p:cNvPr id="50" name="Shape 47"/>
          <p:cNvSpPr/>
          <p:nvPr/>
        </p:nvSpPr>
        <p:spPr>
          <a:xfrm>
            <a:off x="4607719" y="4360841"/>
            <a:ext cx="2025253" cy="510053"/>
          </a:xfrm>
          <a:prstGeom prst="rect">
            <a:avLst/>
          </a:prstGeom>
          <a:solidFill>
            <a:srgbClr val="F0F8FF"/>
          </a:solidFill>
          <a:ln w="198">
            <a:solidFill>
              <a:srgbClr val="3498D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679156" y="4446566"/>
            <a:ext cx="188237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 Comentários</a:t>
            </a:r>
            <a:endParaRPr lang="en-US" sz="628" dirty="0"/>
          </a:p>
        </p:txBody>
      </p:sp>
      <p:sp>
        <p:nvSpPr>
          <p:cNvPr id="52" name="Text 49"/>
          <p:cNvSpPr/>
          <p:nvPr/>
        </p:nvSpPr>
        <p:spPr>
          <a:xfrm>
            <a:off x="4679156" y="4618016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FK: usuario</a:t>
            </a:r>
            <a:endParaRPr lang="en-US" sz="471" dirty="0"/>
          </a:p>
        </p:txBody>
      </p:sp>
      <p:sp>
        <p:nvSpPr>
          <p:cNvPr id="53" name="Text 50"/>
          <p:cNvSpPr/>
          <p:nvPr/>
        </p:nvSpPr>
        <p:spPr>
          <a:xfrm>
            <a:off x="4679156" y="4701592"/>
            <a:ext cx="1882378" cy="835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71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FK: cardápio</a:t>
            </a:r>
            <a:endParaRPr lang="en-US" sz="471" dirty="0"/>
          </a:p>
        </p:txBody>
      </p:sp>
      <p:sp>
        <p:nvSpPr>
          <p:cNvPr id="54" name="Text 51"/>
          <p:cNvSpPr/>
          <p:nvPr/>
        </p:nvSpPr>
        <p:spPr>
          <a:xfrm>
            <a:off x="6704409" y="4540858"/>
            <a:ext cx="2025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N:1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21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REST - Endpoints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85750" y="857250"/>
            <a:ext cx="8572500" cy="4250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57250"/>
            <a:ext cx="8572500" cy="27860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857250"/>
            <a:ext cx="533214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Método</a:t>
            </a:r>
            <a:endParaRPr lang="en-US" sz="628" dirty="0"/>
          </a:p>
        </p:txBody>
      </p:sp>
      <p:sp>
        <p:nvSpPr>
          <p:cNvPr id="7" name="Text 4"/>
          <p:cNvSpPr/>
          <p:nvPr/>
        </p:nvSpPr>
        <p:spPr>
          <a:xfrm>
            <a:off x="818964" y="857250"/>
            <a:ext cx="2286000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</a:t>
            </a:r>
            <a:endParaRPr lang="en-US" sz="628" dirty="0"/>
          </a:p>
        </p:txBody>
      </p:sp>
      <p:sp>
        <p:nvSpPr>
          <p:cNvPr id="8" name="Text 5"/>
          <p:cNvSpPr/>
          <p:nvPr/>
        </p:nvSpPr>
        <p:spPr>
          <a:xfrm>
            <a:off x="3104964" y="857250"/>
            <a:ext cx="5753286" cy="278606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Descrição</a:t>
            </a:r>
            <a:endParaRPr lang="en-US" sz="628" dirty="0"/>
          </a:p>
        </p:txBody>
      </p:sp>
      <p:sp>
        <p:nvSpPr>
          <p:cNvPr id="9" name="Shape 6"/>
          <p:cNvSpPr/>
          <p:nvPr/>
        </p:nvSpPr>
        <p:spPr>
          <a:xfrm>
            <a:off x="285750" y="1135856"/>
            <a:ext cx="8572500" cy="253603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1135856"/>
            <a:ext cx="8572500" cy="2536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🔐 Autenticação</a:t>
            </a:r>
            <a:endParaRPr lang="en-US" sz="628" dirty="0"/>
          </a:p>
        </p:txBody>
      </p:sp>
      <p:sp>
        <p:nvSpPr>
          <p:cNvPr id="11" name="Shape 8"/>
          <p:cNvSpPr/>
          <p:nvPr/>
        </p:nvSpPr>
        <p:spPr>
          <a:xfrm>
            <a:off x="285750" y="1389459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9"/>
          <p:cNvSpPr/>
          <p:nvPr/>
        </p:nvSpPr>
        <p:spPr>
          <a:xfrm>
            <a:off x="371475" y="1450181"/>
            <a:ext cx="282485" cy="150019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0"/>
          <p:cNvSpPr/>
          <p:nvPr/>
        </p:nvSpPr>
        <p:spPr>
          <a:xfrm>
            <a:off x="371475" y="1450181"/>
            <a:ext cx="282485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523" dirty="0"/>
          </a:p>
        </p:txBody>
      </p:sp>
      <p:sp>
        <p:nvSpPr>
          <p:cNvPr id="14" name="Text 11"/>
          <p:cNvSpPr/>
          <p:nvPr/>
        </p:nvSpPr>
        <p:spPr>
          <a:xfrm>
            <a:off x="904689" y="1488579"/>
            <a:ext cx="47157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</a:t>
            </a:r>
            <a:endParaRPr lang="en-US" sz="575" dirty="0"/>
          </a:p>
        </p:txBody>
      </p:sp>
      <p:sp>
        <p:nvSpPr>
          <p:cNvPr id="15" name="Text 12"/>
          <p:cNvSpPr/>
          <p:nvPr/>
        </p:nvSpPr>
        <p:spPr>
          <a:xfrm>
            <a:off x="3104964" y="1389459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Autenticar usuário</a:t>
            </a:r>
            <a:endParaRPr lang="en-US" sz="628" dirty="0"/>
          </a:p>
        </p:txBody>
      </p:sp>
      <p:sp>
        <p:nvSpPr>
          <p:cNvPr id="16" name="Shape 13"/>
          <p:cNvSpPr/>
          <p:nvPr/>
        </p:nvSpPr>
        <p:spPr>
          <a:xfrm>
            <a:off x="285750" y="1660922"/>
            <a:ext cx="8572500" cy="250031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7" name="Text 14"/>
          <p:cNvSpPr/>
          <p:nvPr/>
        </p:nvSpPr>
        <p:spPr>
          <a:xfrm>
            <a:off x="285750" y="1660922"/>
            <a:ext cx="8572500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🍽️ Cardápio</a:t>
            </a:r>
            <a:endParaRPr lang="en-US" sz="628" dirty="0"/>
          </a:p>
        </p:txBody>
      </p:sp>
      <p:sp>
        <p:nvSpPr>
          <p:cNvPr id="18" name="Shape 15"/>
          <p:cNvSpPr/>
          <p:nvPr/>
        </p:nvSpPr>
        <p:spPr>
          <a:xfrm>
            <a:off x="285750" y="1910953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9" name="Shape 16"/>
          <p:cNvSpPr/>
          <p:nvPr/>
        </p:nvSpPr>
        <p:spPr>
          <a:xfrm>
            <a:off x="371475" y="1971675"/>
            <a:ext cx="229549" cy="1500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0" name="Text 17"/>
          <p:cNvSpPr/>
          <p:nvPr/>
        </p:nvSpPr>
        <p:spPr>
          <a:xfrm>
            <a:off x="371475" y="1971675"/>
            <a:ext cx="229549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523" dirty="0"/>
          </a:p>
        </p:txBody>
      </p:sp>
      <p:sp>
        <p:nvSpPr>
          <p:cNvPr id="21" name="Text 18"/>
          <p:cNvSpPr/>
          <p:nvPr/>
        </p:nvSpPr>
        <p:spPr>
          <a:xfrm>
            <a:off x="904689" y="2010073"/>
            <a:ext cx="61305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/api/cardapio</a:t>
            </a:r>
            <a:endParaRPr lang="en-US" sz="575" dirty="0"/>
          </a:p>
        </p:txBody>
      </p:sp>
      <p:sp>
        <p:nvSpPr>
          <p:cNvPr id="22" name="Text 19"/>
          <p:cNvSpPr/>
          <p:nvPr/>
        </p:nvSpPr>
        <p:spPr>
          <a:xfrm>
            <a:off x="3104964" y="1910953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Listar cardápio</a:t>
            </a:r>
            <a:endParaRPr lang="en-US" sz="628" dirty="0"/>
          </a:p>
        </p:txBody>
      </p:sp>
      <p:sp>
        <p:nvSpPr>
          <p:cNvPr id="23" name="Shape 20"/>
          <p:cNvSpPr/>
          <p:nvPr/>
        </p:nvSpPr>
        <p:spPr>
          <a:xfrm>
            <a:off x="371475" y="2243138"/>
            <a:ext cx="229549" cy="1500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21"/>
          <p:cNvSpPr/>
          <p:nvPr/>
        </p:nvSpPr>
        <p:spPr>
          <a:xfrm>
            <a:off x="371475" y="2243138"/>
            <a:ext cx="229549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523" dirty="0"/>
          </a:p>
        </p:txBody>
      </p:sp>
      <p:sp>
        <p:nvSpPr>
          <p:cNvPr id="25" name="Text 22"/>
          <p:cNvSpPr/>
          <p:nvPr/>
        </p:nvSpPr>
        <p:spPr>
          <a:xfrm>
            <a:off x="904689" y="2281535"/>
            <a:ext cx="848823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/api/cardapio/&lt;id&gt;</a:t>
            </a:r>
            <a:endParaRPr lang="en-US" sz="575" dirty="0"/>
          </a:p>
        </p:txBody>
      </p:sp>
      <p:sp>
        <p:nvSpPr>
          <p:cNvPr id="26" name="Text 23"/>
          <p:cNvSpPr/>
          <p:nvPr/>
        </p:nvSpPr>
        <p:spPr>
          <a:xfrm>
            <a:off x="3104964" y="2182416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Detalhes de refeição</a:t>
            </a:r>
            <a:endParaRPr lang="en-US" sz="628" dirty="0"/>
          </a:p>
        </p:txBody>
      </p:sp>
      <p:sp>
        <p:nvSpPr>
          <p:cNvPr id="27" name="Shape 24"/>
          <p:cNvSpPr/>
          <p:nvPr/>
        </p:nvSpPr>
        <p:spPr>
          <a:xfrm>
            <a:off x="285750" y="2453878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8" name="Shape 25"/>
          <p:cNvSpPr/>
          <p:nvPr/>
        </p:nvSpPr>
        <p:spPr>
          <a:xfrm>
            <a:off x="371475" y="2514600"/>
            <a:ext cx="282485" cy="150019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9" name="Text 26"/>
          <p:cNvSpPr/>
          <p:nvPr/>
        </p:nvSpPr>
        <p:spPr>
          <a:xfrm>
            <a:off x="371475" y="2514600"/>
            <a:ext cx="282485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523" dirty="0"/>
          </a:p>
        </p:txBody>
      </p:sp>
      <p:sp>
        <p:nvSpPr>
          <p:cNvPr id="30" name="Text 27"/>
          <p:cNvSpPr/>
          <p:nvPr/>
        </p:nvSpPr>
        <p:spPr>
          <a:xfrm>
            <a:off x="904689" y="2552998"/>
            <a:ext cx="61305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/api/cardapio</a:t>
            </a:r>
            <a:endParaRPr lang="en-US" sz="575" dirty="0"/>
          </a:p>
        </p:txBody>
      </p:sp>
      <p:sp>
        <p:nvSpPr>
          <p:cNvPr id="31" name="Text 28"/>
          <p:cNvSpPr/>
          <p:nvPr/>
        </p:nvSpPr>
        <p:spPr>
          <a:xfrm>
            <a:off x="3104964" y="2453878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refeição (admin)</a:t>
            </a:r>
            <a:endParaRPr lang="en-US" sz="628" dirty="0"/>
          </a:p>
        </p:txBody>
      </p:sp>
      <p:sp>
        <p:nvSpPr>
          <p:cNvPr id="32" name="Shape 29"/>
          <p:cNvSpPr/>
          <p:nvPr/>
        </p:nvSpPr>
        <p:spPr>
          <a:xfrm>
            <a:off x="371475" y="2786063"/>
            <a:ext cx="236693" cy="15001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0"/>
          <p:cNvSpPr/>
          <p:nvPr/>
        </p:nvSpPr>
        <p:spPr>
          <a:xfrm>
            <a:off x="371475" y="2786063"/>
            <a:ext cx="236693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PUT</a:t>
            </a:r>
            <a:endParaRPr lang="en-US" sz="523" dirty="0"/>
          </a:p>
        </p:txBody>
      </p:sp>
      <p:sp>
        <p:nvSpPr>
          <p:cNvPr id="34" name="Text 31"/>
          <p:cNvSpPr/>
          <p:nvPr/>
        </p:nvSpPr>
        <p:spPr>
          <a:xfrm>
            <a:off x="904689" y="2824460"/>
            <a:ext cx="848823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/api/cardapio/&lt;id&gt;</a:t>
            </a:r>
            <a:endParaRPr lang="en-US" sz="575" dirty="0"/>
          </a:p>
        </p:txBody>
      </p:sp>
      <p:sp>
        <p:nvSpPr>
          <p:cNvPr id="35" name="Text 32"/>
          <p:cNvSpPr/>
          <p:nvPr/>
        </p:nvSpPr>
        <p:spPr>
          <a:xfrm>
            <a:off x="3104964" y="2725341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Atualizar refeição (admin)</a:t>
            </a:r>
            <a:endParaRPr lang="en-US" sz="628" dirty="0"/>
          </a:p>
        </p:txBody>
      </p:sp>
      <p:sp>
        <p:nvSpPr>
          <p:cNvPr id="36" name="Shape 33"/>
          <p:cNvSpPr/>
          <p:nvPr/>
        </p:nvSpPr>
        <p:spPr>
          <a:xfrm>
            <a:off x="285750" y="2996803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7" name="Shape 34"/>
          <p:cNvSpPr/>
          <p:nvPr/>
        </p:nvSpPr>
        <p:spPr>
          <a:xfrm>
            <a:off x="371475" y="3057525"/>
            <a:ext cx="361764" cy="15001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8" name="Text 35"/>
          <p:cNvSpPr/>
          <p:nvPr/>
        </p:nvSpPr>
        <p:spPr>
          <a:xfrm>
            <a:off x="371475" y="3057525"/>
            <a:ext cx="361764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DELETE</a:t>
            </a:r>
            <a:endParaRPr lang="en-US" sz="523" dirty="0"/>
          </a:p>
        </p:txBody>
      </p:sp>
      <p:sp>
        <p:nvSpPr>
          <p:cNvPr id="39" name="Text 36"/>
          <p:cNvSpPr/>
          <p:nvPr/>
        </p:nvSpPr>
        <p:spPr>
          <a:xfrm>
            <a:off x="904689" y="3095923"/>
            <a:ext cx="848823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/api/cardapio/&lt;id&gt;</a:t>
            </a:r>
            <a:endParaRPr lang="en-US" sz="575" dirty="0"/>
          </a:p>
        </p:txBody>
      </p:sp>
      <p:sp>
        <p:nvSpPr>
          <p:cNvPr id="40" name="Text 37"/>
          <p:cNvSpPr/>
          <p:nvPr/>
        </p:nvSpPr>
        <p:spPr>
          <a:xfrm>
            <a:off x="3104964" y="2996803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Deletar refeição (admin)</a:t>
            </a:r>
            <a:endParaRPr lang="en-US" sz="628" dirty="0"/>
          </a:p>
        </p:txBody>
      </p:sp>
      <p:sp>
        <p:nvSpPr>
          <p:cNvPr id="41" name="Shape 38"/>
          <p:cNvSpPr/>
          <p:nvPr/>
        </p:nvSpPr>
        <p:spPr>
          <a:xfrm>
            <a:off x="285750" y="3268266"/>
            <a:ext cx="8572500" cy="250031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39"/>
          <p:cNvSpPr/>
          <p:nvPr/>
        </p:nvSpPr>
        <p:spPr>
          <a:xfrm>
            <a:off x="285750" y="3268266"/>
            <a:ext cx="8572500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 Avaliações</a:t>
            </a:r>
            <a:endParaRPr lang="en-US" sz="628" dirty="0"/>
          </a:p>
        </p:txBody>
      </p:sp>
      <p:sp>
        <p:nvSpPr>
          <p:cNvPr id="43" name="Shape 40"/>
          <p:cNvSpPr/>
          <p:nvPr/>
        </p:nvSpPr>
        <p:spPr>
          <a:xfrm>
            <a:off x="285750" y="3518297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4" name="Shape 41"/>
          <p:cNvSpPr/>
          <p:nvPr/>
        </p:nvSpPr>
        <p:spPr>
          <a:xfrm>
            <a:off x="371475" y="3579019"/>
            <a:ext cx="282485" cy="150019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5" name="Text 42"/>
          <p:cNvSpPr/>
          <p:nvPr/>
        </p:nvSpPr>
        <p:spPr>
          <a:xfrm>
            <a:off x="371475" y="3579019"/>
            <a:ext cx="282485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523" dirty="0"/>
          </a:p>
        </p:txBody>
      </p:sp>
      <p:sp>
        <p:nvSpPr>
          <p:cNvPr id="46" name="Text 43"/>
          <p:cNvSpPr/>
          <p:nvPr/>
        </p:nvSpPr>
        <p:spPr>
          <a:xfrm>
            <a:off x="904689" y="3617416"/>
            <a:ext cx="707371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/api/avaliacoes</a:t>
            </a:r>
            <a:endParaRPr lang="en-US" sz="575" dirty="0"/>
          </a:p>
        </p:txBody>
      </p:sp>
      <p:sp>
        <p:nvSpPr>
          <p:cNvPr id="47" name="Text 44"/>
          <p:cNvSpPr/>
          <p:nvPr/>
        </p:nvSpPr>
        <p:spPr>
          <a:xfrm>
            <a:off x="3104964" y="3518297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Registrar avaliação</a:t>
            </a:r>
            <a:endParaRPr lang="en-US" sz="628" dirty="0"/>
          </a:p>
        </p:txBody>
      </p:sp>
      <p:sp>
        <p:nvSpPr>
          <p:cNvPr id="48" name="Shape 45"/>
          <p:cNvSpPr/>
          <p:nvPr/>
        </p:nvSpPr>
        <p:spPr>
          <a:xfrm>
            <a:off x="285750" y="3789759"/>
            <a:ext cx="8572500" cy="250031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9" name="Text 46"/>
          <p:cNvSpPr/>
          <p:nvPr/>
        </p:nvSpPr>
        <p:spPr>
          <a:xfrm>
            <a:off x="285750" y="3789759"/>
            <a:ext cx="8572500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 Comentários</a:t>
            </a:r>
            <a:endParaRPr lang="en-US" sz="628" dirty="0"/>
          </a:p>
        </p:txBody>
      </p:sp>
      <p:sp>
        <p:nvSpPr>
          <p:cNvPr id="50" name="Shape 47"/>
          <p:cNvSpPr/>
          <p:nvPr/>
        </p:nvSpPr>
        <p:spPr>
          <a:xfrm>
            <a:off x="285750" y="4039791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1" name="Shape 48"/>
          <p:cNvSpPr/>
          <p:nvPr/>
        </p:nvSpPr>
        <p:spPr>
          <a:xfrm>
            <a:off x="371475" y="4100513"/>
            <a:ext cx="282485" cy="150019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2" name="Text 49"/>
          <p:cNvSpPr/>
          <p:nvPr/>
        </p:nvSpPr>
        <p:spPr>
          <a:xfrm>
            <a:off x="371475" y="4100513"/>
            <a:ext cx="282485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523" dirty="0"/>
          </a:p>
        </p:txBody>
      </p:sp>
      <p:sp>
        <p:nvSpPr>
          <p:cNvPr id="53" name="Text 50"/>
          <p:cNvSpPr/>
          <p:nvPr/>
        </p:nvSpPr>
        <p:spPr>
          <a:xfrm>
            <a:off x="904689" y="4138910"/>
            <a:ext cx="754503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/api/comentarios</a:t>
            </a:r>
            <a:endParaRPr lang="en-US" sz="575" dirty="0"/>
          </a:p>
        </p:txBody>
      </p:sp>
      <p:sp>
        <p:nvSpPr>
          <p:cNvPr id="54" name="Text 51"/>
          <p:cNvSpPr/>
          <p:nvPr/>
        </p:nvSpPr>
        <p:spPr>
          <a:xfrm>
            <a:off x="3104964" y="4039791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Registrar comentário</a:t>
            </a:r>
            <a:endParaRPr lang="en-US" sz="628" dirty="0"/>
          </a:p>
        </p:txBody>
      </p:sp>
      <p:sp>
        <p:nvSpPr>
          <p:cNvPr id="55" name="Shape 52"/>
          <p:cNvSpPr/>
          <p:nvPr/>
        </p:nvSpPr>
        <p:spPr>
          <a:xfrm>
            <a:off x="285750" y="4311253"/>
            <a:ext cx="8572500" cy="250031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6" name="Text 53"/>
          <p:cNvSpPr/>
          <p:nvPr/>
        </p:nvSpPr>
        <p:spPr>
          <a:xfrm>
            <a:off x="285750" y="4311253"/>
            <a:ext cx="8572500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 Relatórios</a:t>
            </a:r>
            <a:endParaRPr lang="en-US" sz="628" dirty="0"/>
          </a:p>
        </p:txBody>
      </p:sp>
      <p:sp>
        <p:nvSpPr>
          <p:cNvPr id="57" name="Shape 54"/>
          <p:cNvSpPr/>
          <p:nvPr/>
        </p:nvSpPr>
        <p:spPr>
          <a:xfrm>
            <a:off x="285750" y="4561284"/>
            <a:ext cx="8572500" cy="271463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8" name="Shape 55"/>
          <p:cNvSpPr/>
          <p:nvPr/>
        </p:nvSpPr>
        <p:spPr>
          <a:xfrm>
            <a:off x="371475" y="4622006"/>
            <a:ext cx="229549" cy="1500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9" name="Text 56"/>
          <p:cNvSpPr/>
          <p:nvPr/>
        </p:nvSpPr>
        <p:spPr>
          <a:xfrm>
            <a:off x="371475" y="4622006"/>
            <a:ext cx="229549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523" dirty="0"/>
          </a:p>
        </p:txBody>
      </p:sp>
      <p:sp>
        <p:nvSpPr>
          <p:cNvPr id="60" name="Text 57"/>
          <p:cNvSpPr/>
          <p:nvPr/>
        </p:nvSpPr>
        <p:spPr>
          <a:xfrm>
            <a:off x="904689" y="4660404"/>
            <a:ext cx="990302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/api/relatorio/semana</a:t>
            </a:r>
            <a:endParaRPr lang="en-US" sz="575" dirty="0"/>
          </a:p>
        </p:txBody>
      </p:sp>
      <p:sp>
        <p:nvSpPr>
          <p:cNvPr id="61" name="Text 58"/>
          <p:cNvSpPr/>
          <p:nvPr/>
        </p:nvSpPr>
        <p:spPr>
          <a:xfrm>
            <a:off x="3104964" y="4561284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da semana (admin)</a:t>
            </a:r>
            <a:endParaRPr lang="en-US" sz="628" dirty="0"/>
          </a:p>
        </p:txBody>
      </p:sp>
      <p:sp>
        <p:nvSpPr>
          <p:cNvPr id="62" name="Shape 59"/>
          <p:cNvSpPr/>
          <p:nvPr/>
        </p:nvSpPr>
        <p:spPr>
          <a:xfrm>
            <a:off x="371475" y="4893469"/>
            <a:ext cx="229549" cy="15001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3" name="Text 60"/>
          <p:cNvSpPr/>
          <p:nvPr/>
        </p:nvSpPr>
        <p:spPr>
          <a:xfrm>
            <a:off x="371475" y="4893469"/>
            <a:ext cx="229549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523" dirty="0"/>
          </a:p>
        </p:txBody>
      </p:sp>
      <p:sp>
        <p:nvSpPr>
          <p:cNvPr id="64" name="Text 61"/>
          <p:cNvSpPr/>
          <p:nvPr/>
        </p:nvSpPr>
        <p:spPr>
          <a:xfrm>
            <a:off x="904689" y="4931866"/>
            <a:ext cx="1320394" cy="892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/api/relatorio/cardapio/&lt;id&gt;</a:t>
            </a:r>
            <a:endParaRPr lang="en-US" sz="575" dirty="0"/>
          </a:p>
        </p:txBody>
      </p:sp>
      <p:sp>
        <p:nvSpPr>
          <p:cNvPr id="65" name="Text 62"/>
          <p:cNvSpPr/>
          <p:nvPr/>
        </p:nvSpPr>
        <p:spPr>
          <a:xfrm>
            <a:off x="3104964" y="4832747"/>
            <a:ext cx="5753286" cy="27146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refeição</a:t>
            </a:r>
            <a:endParaRPr lang="en-US" sz="62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56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Experiência do Usuário - Aluno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164431"/>
            <a:ext cx="8286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 disponíveis para alunos</a:t>
            </a:r>
            <a:endParaRPr lang="en-US" sz="732" dirty="0"/>
          </a:p>
        </p:txBody>
      </p:sp>
      <p:sp>
        <p:nvSpPr>
          <p:cNvPr id="5" name="Shape 2"/>
          <p:cNvSpPr/>
          <p:nvPr/>
        </p:nvSpPr>
        <p:spPr>
          <a:xfrm>
            <a:off x="428625" y="1528763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28763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707356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🔐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07281" y="1707356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Login Seguro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107281" y="1935956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Acesso ao sistema com email e senha, com validação de credenciais e controle de acesso por perfil de usuário.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4661297" y="1528763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661297" y="1528763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4839891" y="1707356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📋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339953" y="1707356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Visualização do Cardápio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5339953" y="1935956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Cards informativos com todas as refeições da semana, mostrando dia, prato, descrição e estatísticas de avaliação.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428625" y="2590279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590279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4"/>
          <p:cNvSpPr/>
          <p:nvPr/>
        </p:nvSpPr>
        <p:spPr>
          <a:xfrm>
            <a:off x="607219" y="2768873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107281" y="2768873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Detalhes da Refeição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1107281" y="2997473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Modal com informações completas da refeição, incluindo descrição detalhada e média de avaliações em tempo real.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4661297" y="2590279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661297" y="2590279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Text 19"/>
          <p:cNvSpPr/>
          <p:nvPr/>
        </p:nvSpPr>
        <p:spPr>
          <a:xfrm>
            <a:off x="4839891" y="2768873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5339953" y="2768873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Avaliação de Refeições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5339953" y="2997473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intuitivo de 5 estrelas para avaliar cada prato, com feedback imediato e atualização da média de satisfação.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428625" y="3651796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3651796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607219" y="3830389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107281" y="3830389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Deixar Comentários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1107281" y="4058989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Campo de texto para feedback detalhado sobre a refeição, permitindo expressar opiniões e sugestões de melhoria.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661297" y="3651796"/>
            <a:ext cx="4054078" cy="8829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661297" y="3651796"/>
            <a:ext cx="35719" cy="882923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2" name="Text 29"/>
          <p:cNvSpPr/>
          <p:nvPr/>
        </p:nvSpPr>
        <p:spPr>
          <a:xfrm>
            <a:off x="4839891" y="3830389"/>
            <a:ext cx="357188" cy="52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👥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5339953" y="3830389"/>
            <a:ext cx="31968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Social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5339953" y="4058989"/>
            <a:ext cx="319682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Visualização de comentários de outros alunos sobre a refeição, criando um espaço colaborativo de feedback.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428625" y="4784750"/>
            <a:ext cx="828675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428625" y="4784750"/>
            <a:ext cx="35719" cy="9144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7" name="Text 34"/>
          <p:cNvSpPr/>
          <p:nvPr/>
        </p:nvSpPr>
        <p:spPr>
          <a:xfrm>
            <a:off x="607219" y="4963344"/>
            <a:ext cx="79295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 de Design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607219" y="5241950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📱</a:t>
            </a:r>
            <a:endParaRPr lang="en-US" sz="1046" dirty="0"/>
          </a:p>
        </p:txBody>
      </p:sp>
      <p:sp>
        <p:nvSpPr>
          <p:cNvPr id="39" name="Text 36"/>
          <p:cNvSpPr/>
          <p:nvPr/>
        </p:nvSpPr>
        <p:spPr>
          <a:xfrm>
            <a:off x="857250" y="5247308"/>
            <a:ext cx="550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Responsivo: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408156" y="5247308"/>
            <a:ext cx="16770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Funciona perfeitamente em desktops, 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857250" y="5386611"/>
            <a:ext cx="97802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tablets e smartphones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3298013" y="5241950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🎨</a:t>
            </a:r>
            <a:endParaRPr lang="en-US" sz="1046" dirty="0"/>
          </a:p>
        </p:txBody>
      </p:sp>
      <p:sp>
        <p:nvSpPr>
          <p:cNvPr id="43" name="Text 40"/>
          <p:cNvSpPr/>
          <p:nvPr/>
        </p:nvSpPr>
        <p:spPr>
          <a:xfrm>
            <a:off x="3548044" y="5247308"/>
            <a:ext cx="4322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Intuitivo: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3980269" y="5247308"/>
            <a:ext cx="149686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Interface clara e fácil de usar, sem 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3548044" y="5386611"/>
            <a:ext cx="123832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necessidade de treinamento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5988834" y="5241950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⚡</a:t>
            </a:r>
            <a:endParaRPr lang="en-US" sz="1046" dirty="0"/>
          </a:p>
        </p:txBody>
      </p:sp>
      <p:sp>
        <p:nvSpPr>
          <p:cNvPr id="47" name="Text 44"/>
          <p:cNvSpPr/>
          <p:nvPr/>
        </p:nvSpPr>
        <p:spPr>
          <a:xfrm>
            <a:off x="6238866" y="5247308"/>
            <a:ext cx="3472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Rápido: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6586119" y="5247308"/>
            <a:ext cx="17035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Carregamento instantâneo de dados e 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6238866" y="5386611"/>
            <a:ext cx="8074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imediato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492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Experiência do Usuário - Administrador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4018359" cy="4527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64431"/>
            <a:ext cx="35719" cy="4527659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378744"/>
            <a:ext cx="3589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 Disponíveis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42938" y="17502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🔐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1000125" y="17502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Login Seguro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1000125" y="19359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Acesso com email e senha</a:t>
            </a:r>
            <a:endParaRPr lang="en-US" sz="628" dirty="0"/>
          </a:p>
        </p:txBody>
      </p:sp>
      <p:sp>
        <p:nvSpPr>
          <p:cNvPr id="10" name="Text 7"/>
          <p:cNvSpPr/>
          <p:nvPr/>
        </p:nvSpPr>
        <p:spPr>
          <a:xfrm>
            <a:off x="642938" y="23217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📝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000125" y="23217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Gerenciar Cardápio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1000125" y="25074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Adicionar, editar e deletar refeições</a:t>
            </a:r>
            <a:endParaRPr lang="en-US" sz="628" dirty="0"/>
          </a:p>
        </p:txBody>
      </p:sp>
      <p:sp>
        <p:nvSpPr>
          <p:cNvPr id="13" name="Text 10"/>
          <p:cNvSpPr/>
          <p:nvPr/>
        </p:nvSpPr>
        <p:spPr>
          <a:xfrm>
            <a:off x="642938" y="28932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📋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00125" y="28932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Formulário Estruturado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1000125" y="30789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Campos para dia, data, prato e descrição</a:t>
            </a:r>
            <a:endParaRPr lang="en-US" sz="628" dirty="0"/>
          </a:p>
        </p:txBody>
      </p:sp>
      <p:sp>
        <p:nvSpPr>
          <p:cNvPr id="16" name="Text 13"/>
          <p:cNvSpPr/>
          <p:nvPr/>
        </p:nvSpPr>
        <p:spPr>
          <a:xfrm>
            <a:off x="642938" y="34647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000125" y="34647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Avaliações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1000125" y="36504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Visualizar média de notas por prato</a:t>
            </a:r>
            <a:endParaRPr lang="en-US" sz="628" dirty="0"/>
          </a:p>
        </p:txBody>
      </p:sp>
      <p:sp>
        <p:nvSpPr>
          <p:cNvPr id="19" name="Text 16"/>
          <p:cNvSpPr/>
          <p:nvPr/>
        </p:nvSpPr>
        <p:spPr>
          <a:xfrm>
            <a:off x="642938" y="40362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💬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000125" y="40362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Comentários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1000125" y="42219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Ler feedback detalhado dos alunos</a:t>
            </a:r>
            <a:endParaRPr lang="en-US" sz="628" dirty="0"/>
          </a:p>
        </p:txBody>
      </p:sp>
      <p:sp>
        <p:nvSpPr>
          <p:cNvPr id="22" name="Text 19"/>
          <p:cNvSpPr/>
          <p:nvPr/>
        </p:nvSpPr>
        <p:spPr>
          <a:xfrm>
            <a:off x="642938" y="4607719"/>
            <a:ext cx="2500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📈</a:t>
            </a:r>
            <a:endParaRPr lang="en-US" sz="1575" dirty="0"/>
          </a:p>
        </p:txBody>
      </p:sp>
      <p:sp>
        <p:nvSpPr>
          <p:cNvPr id="23" name="Text 20"/>
          <p:cNvSpPr/>
          <p:nvPr/>
        </p:nvSpPr>
        <p:spPr>
          <a:xfrm>
            <a:off x="1000125" y="4607719"/>
            <a:ext cx="32325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1000125" y="4793456"/>
            <a:ext cx="32325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geral da satisfação da semana</a:t>
            </a:r>
            <a:endParaRPr lang="en-US" sz="628" dirty="0"/>
          </a:p>
        </p:txBody>
      </p:sp>
      <p:sp>
        <p:nvSpPr>
          <p:cNvPr id="25" name="Shape 22"/>
          <p:cNvSpPr/>
          <p:nvPr/>
        </p:nvSpPr>
        <p:spPr>
          <a:xfrm>
            <a:off x="4697016" y="1164431"/>
            <a:ext cx="4018359" cy="4527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697016" y="1164431"/>
            <a:ext cx="35719" cy="4527659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4"/>
          <p:cNvSpPr/>
          <p:nvPr/>
        </p:nvSpPr>
        <p:spPr>
          <a:xfrm>
            <a:off x="4911328" y="1378744"/>
            <a:ext cx="358973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Detalhes das Funcionalidades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911328" y="1714500"/>
            <a:ext cx="35897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Gerenciamento de Cardápio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911328" y="1910953"/>
            <a:ext cx="3589734" cy="41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Interface intuitiva para adicionar novas refeições, editar pratos existentes e remover itens do cardápio. Cada refeição inclui dia da semana, data, nome do prato e descrição detalhada. </a:t>
            </a:r>
            <a:endParaRPr lang="en-US" sz="628" dirty="0"/>
          </a:p>
        </p:txBody>
      </p:sp>
      <p:sp>
        <p:nvSpPr>
          <p:cNvPr id="30" name="Text 27"/>
          <p:cNvSpPr/>
          <p:nvPr/>
        </p:nvSpPr>
        <p:spPr>
          <a:xfrm>
            <a:off x="4911328" y="2593879"/>
            <a:ext cx="35897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Satisfação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4911328" y="2790332"/>
            <a:ext cx="3589734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Visualização clara da média de avaliações (1-5 estrelas) para cada prato, incluindo total de votos e quantidade de comentários recebidos. </a:t>
            </a:r>
            <a:endParaRPr lang="en-US" sz="628" dirty="0"/>
          </a:p>
        </p:txBody>
      </p:sp>
      <p:sp>
        <p:nvSpPr>
          <p:cNvPr id="32" name="Text 29"/>
          <p:cNvSpPr/>
          <p:nvPr/>
        </p:nvSpPr>
        <p:spPr>
          <a:xfrm>
            <a:off x="4911328" y="3336103"/>
            <a:ext cx="35897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Feedback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4911328" y="3532556"/>
            <a:ext cx="3589734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Leitura de todos os comentários dos alunos sobre cada refeição, permitindo identificar pontos de melhoria e sugestões específicas. </a:t>
            </a:r>
            <a:endParaRPr lang="en-US" sz="628" dirty="0"/>
          </a:p>
        </p:txBody>
      </p:sp>
      <p:sp>
        <p:nvSpPr>
          <p:cNvPr id="34" name="Text 31"/>
          <p:cNvSpPr/>
          <p:nvPr/>
        </p:nvSpPr>
        <p:spPr>
          <a:xfrm>
            <a:off x="4911328" y="4078328"/>
            <a:ext cx="35897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Tomada de Decisão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4911328" y="4274781"/>
            <a:ext cx="3589734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Dados concretos para tomar decisões sobre cardápio futuro, baseado na satisfação real dos alunos e suas sugestões. </a:t>
            </a:r>
            <a:endParaRPr lang="en-US" sz="628" dirty="0"/>
          </a:p>
        </p:txBody>
      </p:sp>
      <p:sp>
        <p:nvSpPr>
          <p:cNvPr id="36" name="Shape 33"/>
          <p:cNvSpPr/>
          <p:nvPr/>
        </p:nvSpPr>
        <p:spPr>
          <a:xfrm>
            <a:off x="4911328" y="4820552"/>
            <a:ext cx="3589734" cy="657225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911328" y="4820552"/>
            <a:ext cx="21431" cy="65722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8" name="Text 35"/>
          <p:cNvSpPr/>
          <p:nvPr/>
        </p:nvSpPr>
        <p:spPr>
          <a:xfrm>
            <a:off x="5018484" y="4927709"/>
            <a:ext cx="33754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🔒 Controle de Acesso</a:t>
            </a:r>
            <a:endParaRPr lang="en-US" sz="628" dirty="0"/>
          </a:p>
        </p:txBody>
      </p:sp>
      <p:sp>
        <p:nvSpPr>
          <p:cNvPr id="39" name="Text 36"/>
          <p:cNvSpPr/>
          <p:nvPr/>
        </p:nvSpPr>
        <p:spPr>
          <a:xfrm>
            <a:off x="5018484" y="5113446"/>
            <a:ext cx="337542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Apenas usuários com tipo "admin" podem acessar essas funcionalidades. Alunos veem uma interface diferente com recursos limitados. </a:t>
            </a:r>
            <a:endParaRPr lang="en-US" sz="62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936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 o Login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64431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3"/>
          <p:cNvSpPr/>
          <p:nvPr/>
        </p:nvSpPr>
        <p:spPr>
          <a:xfrm>
            <a:off x="607219" y="1307306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607219" y="130730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1107281" y="1323380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Usuário Insere Credenciais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1107281" y="1509117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 e senha são digitados no formulário de login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592931" y="1807369"/>
            <a:ext cx="21431" cy="1428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950244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1950244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Shape 10"/>
          <p:cNvSpPr/>
          <p:nvPr/>
        </p:nvSpPr>
        <p:spPr>
          <a:xfrm>
            <a:off x="607219" y="2093119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1"/>
          <p:cNvSpPr/>
          <p:nvPr/>
        </p:nvSpPr>
        <p:spPr>
          <a:xfrm>
            <a:off x="607219" y="209311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107281" y="2109192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Front-end Envia Requisição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1107281" y="2294930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para /api/login com credenciais em JSON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592931" y="2593181"/>
            <a:ext cx="21431" cy="1428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736056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736056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Shape 17"/>
          <p:cNvSpPr/>
          <p:nvPr/>
        </p:nvSpPr>
        <p:spPr>
          <a:xfrm>
            <a:off x="607219" y="2878931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8"/>
          <p:cNvSpPr/>
          <p:nvPr/>
        </p:nvSpPr>
        <p:spPr>
          <a:xfrm>
            <a:off x="607219" y="287893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1107281" y="2895005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Back-end Valida</a:t>
            </a:r>
            <a:endParaRPr lang="en-US" sz="732" dirty="0"/>
          </a:p>
        </p:txBody>
      </p:sp>
      <p:sp>
        <p:nvSpPr>
          <p:cNvPr id="23" name="Text 20"/>
          <p:cNvSpPr/>
          <p:nvPr/>
        </p:nvSpPr>
        <p:spPr>
          <a:xfrm>
            <a:off x="1107281" y="3080742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Busca usuário no banco de dados e verifica credenciais</a:t>
            </a:r>
            <a:endParaRPr lang="en-US" sz="680" dirty="0"/>
          </a:p>
        </p:txBody>
      </p:sp>
      <p:sp>
        <p:nvSpPr>
          <p:cNvPr id="24" name="Shape 21"/>
          <p:cNvSpPr/>
          <p:nvPr/>
        </p:nvSpPr>
        <p:spPr>
          <a:xfrm>
            <a:off x="592931" y="3378994"/>
            <a:ext cx="21431" cy="1428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3521869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3521869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Shape 24"/>
          <p:cNvSpPr/>
          <p:nvPr/>
        </p:nvSpPr>
        <p:spPr>
          <a:xfrm>
            <a:off x="607219" y="3664744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8" name="Text 25"/>
          <p:cNvSpPr/>
          <p:nvPr/>
        </p:nvSpPr>
        <p:spPr>
          <a:xfrm>
            <a:off x="607219" y="3664744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1107281" y="3680817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Resposta com Dados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1107281" y="3866555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id, nome, email e tipo de usuário (aluno/admin)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592931" y="4164806"/>
            <a:ext cx="21431" cy="1428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2" name="Shape 29"/>
          <p:cNvSpPr/>
          <p:nvPr/>
        </p:nvSpPr>
        <p:spPr>
          <a:xfrm>
            <a:off x="428625" y="4307681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428625" y="4307681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4" name="Shape 31"/>
          <p:cNvSpPr/>
          <p:nvPr/>
        </p:nvSpPr>
        <p:spPr>
          <a:xfrm>
            <a:off x="607219" y="4450556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5" name="Text 32"/>
          <p:cNvSpPr/>
          <p:nvPr/>
        </p:nvSpPr>
        <p:spPr>
          <a:xfrm>
            <a:off x="607219" y="4450556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1107281" y="4466630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Front-end Armazena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1107281" y="4652367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do usuário salvos em variável global JavaScript</a:t>
            </a:r>
            <a:endParaRPr lang="en-US" sz="680" dirty="0"/>
          </a:p>
        </p:txBody>
      </p:sp>
      <p:sp>
        <p:nvSpPr>
          <p:cNvPr id="38" name="Shape 35"/>
          <p:cNvSpPr/>
          <p:nvPr/>
        </p:nvSpPr>
        <p:spPr>
          <a:xfrm>
            <a:off x="592931" y="4950619"/>
            <a:ext cx="21431" cy="142875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9" name="Shape 36"/>
          <p:cNvSpPr/>
          <p:nvPr/>
        </p:nvSpPr>
        <p:spPr>
          <a:xfrm>
            <a:off x="428625" y="5093494"/>
            <a:ext cx="4000500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28625" y="5093494"/>
            <a:ext cx="35719" cy="64293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Shape 38"/>
          <p:cNvSpPr/>
          <p:nvPr/>
        </p:nvSpPr>
        <p:spPr>
          <a:xfrm>
            <a:off x="607219" y="5236369"/>
            <a:ext cx="357188" cy="35718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2" name="Text 39"/>
          <p:cNvSpPr/>
          <p:nvPr/>
        </p:nvSpPr>
        <p:spPr>
          <a:xfrm>
            <a:off x="607219" y="523636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1107281" y="5252442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Atualiza</a:t>
            </a:r>
            <a:endParaRPr lang="en-US" sz="732" dirty="0"/>
          </a:p>
        </p:txBody>
      </p:sp>
      <p:sp>
        <p:nvSpPr>
          <p:cNvPr id="44" name="Text 41"/>
          <p:cNvSpPr/>
          <p:nvPr/>
        </p:nvSpPr>
        <p:spPr>
          <a:xfrm>
            <a:off x="1107281" y="5438180"/>
            <a:ext cx="31432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Tela muda para aluno ou admin conforme tipo de usuário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4714875" y="1164431"/>
            <a:ext cx="4000500" cy="33859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4714875" y="1164431"/>
            <a:ext cx="35719" cy="338591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7" name="Text 44"/>
          <p:cNvSpPr/>
          <p:nvPr/>
        </p:nvSpPr>
        <p:spPr>
          <a:xfrm>
            <a:off x="4893469" y="1343025"/>
            <a:ext cx="1785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🔒</a:t>
            </a:r>
            <a:endParaRPr lang="en-US" sz="1046" dirty="0"/>
          </a:p>
        </p:txBody>
      </p:sp>
      <p:sp>
        <p:nvSpPr>
          <p:cNvPr id="48" name="Text 45"/>
          <p:cNvSpPr/>
          <p:nvPr/>
        </p:nvSpPr>
        <p:spPr>
          <a:xfrm>
            <a:off x="5143500" y="1364456"/>
            <a:ext cx="13103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Aspectos de Segurança </a:t>
            </a:r>
            <a:endParaRPr lang="en-US" sz="837" dirty="0"/>
          </a:p>
        </p:txBody>
      </p:sp>
      <p:sp>
        <p:nvSpPr>
          <p:cNvPr id="49" name="Text 46"/>
          <p:cNvSpPr/>
          <p:nvPr/>
        </p:nvSpPr>
        <p:spPr>
          <a:xfrm>
            <a:off x="4893469" y="1664494"/>
            <a:ext cx="3643313" cy="15786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Validação de credenciais ocorre no servidor 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4893469" y="1908079"/>
            <a:ext cx="3643313" cy="15786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Controle de acesso por tipo de usuário </a:t>
            </a:r>
            <a:endParaRPr lang="en-US" sz="680" dirty="0"/>
          </a:p>
        </p:txBody>
      </p:sp>
      <p:sp>
        <p:nvSpPr>
          <p:cNvPr id="51" name="Text 48"/>
          <p:cNvSpPr/>
          <p:nvPr/>
        </p:nvSpPr>
        <p:spPr>
          <a:xfrm>
            <a:off x="4893469" y="2151664"/>
            <a:ext cx="3643313" cy="15786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Dados sensíveis não são expostos no front-end 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4893469" y="2395249"/>
            <a:ext cx="3643313" cy="157860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CORS habilitado apenas para localhost </a:t>
            </a:r>
            <a:endParaRPr lang="en-US" sz="680" dirty="0"/>
          </a:p>
        </p:txBody>
      </p:sp>
      <p:sp>
        <p:nvSpPr>
          <p:cNvPr id="53" name="Shape 50"/>
          <p:cNvSpPr/>
          <p:nvPr/>
        </p:nvSpPr>
        <p:spPr>
          <a:xfrm>
            <a:off x="4893469" y="2660266"/>
            <a:ext cx="3643313" cy="1711486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4" name="Text 51"/>
          <p:cNvSpPr/>
          <p:nvPr/>
        </p:nvSpPr>
        <p:spPr>
          <a:xfrm>
            <a:off x="4979194" y="2745991"/>
            <a:ext cx="92765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POST /api/login HTTP/1.1</a:t>
            </a:r>
            <a:endParaRPr lang="en-US" sz="575" dirty="0"/>
          </a:p>
        </p:txBody>
      </p:sp>
      <p:sp>
        <p:nvSpPr>
          <p:cNvPr id="55" name="Text 52"/>
          <p:cNvSpPr/>
          <p:nvPr/>
        </p:nvSpPr>
        <p:spPr>
          <a:xfrm>
            <a:off x="4979194" y="2855993"/>
            <a:ext cx="11249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Content-Type: application/json</a:t>
            </a:r>
            <a:endParaRPr lang="en-US" sz="575" dirty="0"/>
          </a:p>
        </p:txBody>
      </p:sp>
      <p:sp>
        <p:nvSpPr>
          <p:cNvPr id="56" name="Text 53"/>
          <p:cNvSpPr/>
          <p:nvPr/>
        </p:nvSpPr>
        <p:spPr>
          <a:xfrm>
            <a:off x="4979194" y="3075998"/>
            <a:ext cx="298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{</a:t>
            </a:r>
            <a:endParaRPr lang="en-US" sz="575" dirty="0"/>
          </a:p>
        </p:txBody>
      </p:sp>
      <p:sp>
        <p:nvSpPr>
          <p:cNvPr id="57" name="Text 54"/>
          <p:cNvSpPr/>
          <p:nvPr/>
        </p:nvSpPr>
        <p:spPr>
          <a:xfrm>
            <a:off x="4979194" y="3186001"/>
            <a:ext cx="110133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"email": "admin@escola.com",</a:t>
            </a:r>
            <a:endParaRPr lang="en-US" sz="575" dirty="0"/>
          </a:p>
        </p:txBody>
      </p:sp>
      <p:sp>
        <p:nvSpPr>
          <p:cNvPr id="58" name="Text 55"/>
          <p:cNvSpPr/>
          <p:nvPr/>
        </p:nvSpPr>
        <p:spPr>
          <a:xfrm>
            <a:off x="4979194" y="3296003"/>
            <a:ext cx="7562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"senha": "admin123"</a:t>
            </a:r>
            <a:endParaRPr lang="en-US" sz="575" dirty="0"/>
          </a:p>
        </p:txBody>
      </p:sp>
      <p:sp>
        <p:nvSpPr>
          <p:cNvPr id="59" name="Text 56"/>
          <p:cNvSpPr/>
          <p:nvPr/>
        </p:nvSpPr>
        <p:spPr>
          <a:xfrm>
            <a:off x="4979194" y="3406006"/>
            <a:ext cx="298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}</a:t>
            </a:r>
            <a:endParaRPr lang="en-US" sz="575" dirty="0"/>
          </a:p>
        </p:txBody>
      </p:sp>
      <p:sp>
        <p:nvSpPr>
          <p:cNvPr id="60" name="Text 57"/>
          <p:cNvSpPr/>
          <p:nvPr/>
        </p:nvSpPr>
        <p:spPr>
          <a:xfrm>
            <a:off x="4979194" y="3626011"/>
            <a:ext cx="5335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Response 200:</a:t>
            </a:r>
            <a:endParaRPr lang="en-US" sz="575" dirty="0"/>
          </a:p>
        </p:txBody>
      </p:sp>
      <p:sp>
        <p:nvSpPr>
          <p:cNvPr id="61" name="Text 58"/>
          <p:cNvSpPr/>
          <p:nvPr/>
        </p:nvSpPr>
        <p:spPr>
          <a:xfrm>
            <a:off x="4979194" y="3736014"/>
            <a:ext cx="298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{</a:t>
            </a:r>
            <a:endParaRPr lang="en-US" sz="575" dirty="0"/>
          </a:p>
        </p:txBody>
      </p:sp>
      <p:sp>
        <p:nvSpPr>
          <p:cNvPr id="62" name="Text 59"/>
          <p:cNvSpPr/>
          <p:nvPr/>
        </p:nvSpPr>
        <p:spPr>
          <a:xfrm>
            <a:off x="4979194" y="3846016"/>
            <a:ext cx="2402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"id": 1,</a:t>
            </a:r>
            <a:endParaRPr lang="en-US" sz="575" dirty="0"/>
          </a:p>
        </p:txBody>
      </p:sp>
      <p:sp>
        <p:nvSpPr>
          <p:cNvPr id="63" name="Text 60"/>
          <p:cNvSpPr/>
          <p:nvPr/>
        </p:nvSpPr>
        <p:spPr>
          <a:xfrm>
            <a:off x="4979194" y="3956019"/>
            <a:ext cx="63612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"nome": "Admin",</a:t>
            </a:r>
            <a:endParaRPr lang="en-US" sz="575" dirty="0"/>
          </a:p>
        </p:txBody>
      </p:sp>
      <p:sp>
        <p:nvSpPr>
          <p:cNvPr id="64" name="Text 61"/>
          <p:cNvSpPr/>
          <p:nvPr/>
        </p:nvSpPr>
        <p:spPr>
          <a:xfrm>
            <a:off x="4979194" y="4066022"/>
            <a:ext cx="5442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"tipo": "admin"</a:t>
            </a:r>
            <a:endParaRPr lang="en-US" sz="575" dirty="0"/>
          </a:p>
        </p:txBody>
      </p:sp>
      <p:sp>
        <p:nvSpPr>
          <p:cNvPr id="65" name="Text 62"/>
          <p:cNvSpPr/>
          <p:nvPr/>
        </p:nvSpPr>
        <p:spPr>
          <a:xfrm>
            <a:off x="4979194" y="4176024"/>
            <a:ext cx="298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} </a:t>
            </a:r>
            <a:endParaRPr lang="en-US" sz="5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77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Alunos Avaliam Refeições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85750" y="892969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92969"/>
            <a:ext cx="35719" cy="48862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3"/>
          <p:cNvSpPr/>
          <p:nvPr/>
        </p:nvSpPr>
        <p:spPr>
          <a:xfrm>
            <a:off x="400050" y="1007269"/>
            <a:ext cx="257175" cy="25717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400050" y="100726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742950" y="1007269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Aluno Clica na Refeição</a:t>
            </a:r>
            <a:endParaRPr lang="en-US" sz="628" dirty="0"/>
          </a:p>
        </p:txBody>
      </p:sp>
      <p:sp>
        <p:nvSpPr>
          <p:cNvPr id="9" name="Text 6"/>
          <p:cNvSpPr/>
          <p:nvPr/>
        </p:nvSpPr>
        <p:spPr>
          <a:xfrm>
            <a:off x="742950" y="1157288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Seleciona um card de refeição para ver mais detalhes</a:t>
            </a:r>
            <a:endParaRPr lang="en-US" sz="575" dirty="0"/>
          </a:p>
        </p:txBody>
      </p:sp>
      <p:sp>
        <p:nvSpPr>
          <p:cNvPr id="10" name="Shape 7"/>
          <p:cNvSpPr/>
          <p:nvPr/>
        </p:nvSpPr>
        <p:spPr>
          <a:xfrm>
            <a:off x="285750" y="1453028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" y="1453028"/>
            <a:ext cx="35719" cy="48862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2" name="Shape 9"/>
          <p:cNvSpPr/>
          <p:nvPr/>
        </p:nvSpPr>
        <p:spPr>
          <a:xfrm>
            <a:off x="400050" y="1567328"/>
            <a:ext cx="257175" cy="25717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0"/>
          <p:cNvSpPr/>
          <p:nvPr/>
        </p:nvSpPr>
        <p:spPr>
          <a:xfrm>
            <a:off x="400050" y="156732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14" name="Text 11"/>
          <p:cNvSpPr/>
          <p:nvPr/>
        </p:nvSpPr>
        <p:spPr>
          <a:xfrm>
            <a:off x="742950" y="1567328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Modal Abre</a:t>
            </a:r>
            <a:endParaRPr lang="en-US" sz="628" dirty="0"/>
          </a:p>
        </p:txBody>
      </p:sp>
      <p:sp>
        <p:nvSpPr>
          <p:cNvPr id="15" name="Text 12"/>
          <p:cNvSpPr/>
          <p:nvPr/>
        </p:nvSpPr>
        <p:spPr>
          <a:xfrm>
            <a:off x="742950" y="1717346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Janela com informações completas da refeição aparece</a:t>
            </a:r>
            <a:endParaRPr lang="en-US" sz="575" dirty="0"/>
          </a:p>
        </p:txBody>
      </p:sp>
      <p:sp>
        <p:nvSpPr>
          <p:cNvPr id="16" name="Shape 13"/>
          <p:cNvSpPr/>
          <p:nvPr/>
        </p:nvSpPr>
        <p:spPr>
          <a:xfrm>
            <a:off x="285750" y="2013086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85750" y="2013086"/>
            <a:ext cx="35719" cy="48862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Shape 15"/>
          <p:cNvSpPr/>
          <p:nvPr/>
        </p:nvSpPr>
        <p:spPr>
          <a:xfrm>
            <a:off x="400050" y="2127386"/>
            <a:ext cx="257175" cy="25717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6"/>
          <p:cNvSpPr/>
          <p:nvPr/>
        </p:nvSpPr>
        <p:spPr>
          <a:xfrm>
            <a:off x="400050" y="212738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742950" y="2127386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Aluno Seleciona Nota</a:t>
            </a:r>
            <a:endParaRPr lang="en-US" sz="628" dirty="0"/>
          </a:p>
        </p:txBody>
      </p:sp>
      <p:sp>
        <p:nvSpPr>
          <p:cNvPr id="21" name="Text 18"/>
          <p:cNvSpPr/>
          <p:nvPr/>
        </p:nvSpPr>
        <p:spPr>
          <a:xfrm>
            <a:off x="742950" y="2277405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Clica em uma das 5 estrelas (1 a 5 pontos)</a:t>
            </a:r>
            <a:endParaRPr lang="en-US" sz="575" dirty="0"/>
          </a:p>
        </p:txBody>
      </p:sp>
      <p:sp>
        <p:nvSpPr>
          <p:cNvPr id="22" name="Shape 19"/>
          <p:cNvSpPr/>
          <p:nvPr/>
        </p:nvSpPr>
        <p:spPr>
          <a:xfrm>
            <a:off x="285750" y="2573145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285750" y="2573145"/>
            <a:ext cx="35719" cy="48862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Shape 21"/>
          <p:cNvSpPr/>
          <p:nvPr/>
        </p:nvSpPr>
        <p:spPr>
          <a:xfrm>
            <a:off x="400050" y="2687445"/>
            <a:ext cx="257175" cy="25717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5" name="Text 22"/>
          <p:cNvSpPr/>
          <p:nvPr/>
        </p:nvSpPr>
        <p:spPr>
          <a:xfrm>
            <a:off x="400050" y="268744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742950" y="2687445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Clica em "Enviar Avaliação"</a:t>
            </a:r>
            <a:endParaRPr lang="en-US" sz="628" dirty="0"/>
          </a:p>
        </p:txBody>
      </p:sp>
      <p:sp>
        <p:nvSpPr>
          <p:cNvPr id="27" name="Text 24"/>
          <p:cNvSpPr/>
          <p:nvPr/>
        </p:nvSpPr>
        <p:spPr>
          <a:xfrm>
            <a:off x="742950" y="2837464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Botão confirma a intenção de registrar a nota</a:t>
            </a:r>
            <a:endParaRPr lang="en-US" sz="575" dirty="0"/>
          </a:p>
        </p:txBody>
      </p:sp>
      <p:sp>
        <p:nvSpPr>
          <p:cNvPr id="28" name="Shape 25"/>
          <p:cNvSpPr/>
          <p:nvPr/>
        </p:nvSpPr>
        <p:spPr>
          <a:xfrm>
            <a:off x="285750" y="3133204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285750" y="3133204"/>
            <a:ext cx="35719" cy="48862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0" name="Shape 27"/>
          <p:cNvSpPr/>
          <p:nvPr/>
        </p:nvSpPr>
        <p:spPr>
          <a:xfrm>
            <a:off x="400050" y="3247504"/>
            <a:ext cx="257175" cy="25717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8"/>
          <p:cNvSpPr/>
          <p:nvPr/>
        </p:nvSpPr>
        <p:spPr>
          <a:xfrm>
            <a:off x="400050" y="3247504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742950" y="3247504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Front-end Valida</a:t>
            </a:r>
            <a:endParaRPr lang="en-US" sz="628" dirty="0"/>
          </a:p>
        </p:txBody>
      </p:sp>
      <p:sp>
        <p:nvSpPr>
          <p:cNvPr id="33" name="Text 30"/>
          <p:cNvSpPr/>
          <p:nvPr/>
        </p:nvSpPr>
        <p:spPr>
          <a:xfrm>
            <a:off x="742950" y="3397523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uma nota foi selecionada antes de enviar</a:t>
            </a:r>
            <a:endParaRPr lang="en-US" sz="575" dirty="0"/>
          </a:p>
        </p:txBody>
      </p:sp>
      <p:sp>
        <p:nvSpPr>
          <p:cNvPr id="34" name="Shape 31"/>
          <p:cNvSpPr/>
          <p:nvPr/>
        </p:nvSpPr>
        <p:spPr>
          <a:xfrm>
            <a:off x="285750" y="3693263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285750" y="3693263"/>
            <a:ext cx="35719" cy="488621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6" name="Shape 33"/>
          <p:cNvSpPr/>
          <p:nvPr/>
        </p:nvSpPr>
        <p:spPr>
          <a:xfrm>
            <a:off x="400050" y="3807563"/>
            <a:ext cx="257175" cy="257175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7" name="Text 34"/>
          <p:cNvSpPr/>
          <p:nvPr/>
        </p:nvSpPr>
        <p:spPr>
          <a:xfrm>
            <a:off x="400050" y="380756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32" dirty="0"/>
          </a:p>
        </p:txBody>
      </p:sp>
      <p:sp>
        <p:nvSpPr>
          <p:cNvPr id="38" name="Text 35"/>
          <p:cNvSpPr/>
          <p:nvPr/>
        </p:nvSpPr>
        <p:spPr>
          <a:xfrm>
            <a:off x="742950" y="3807563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Envia POST para API</a:t>
            </a:r>
            <a:endParaRPr lang="en-US" sz="628" dirty="0"/>
          </a:p>
        </p:txBody>
      </p:sp>
      <p:sp>
        <p:nvSpPr>
          <p:cNvPr id="39" name="Text 36"/>
          <p:cNvSpPr/>
          <p:nvPr/>
        </p:nvSpPr>
        <p:spPr>
          <a:xfrm>
            <a:off x="742950" y="3957582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Requisição para /api/avaliacoes com dados da avaliação</a:t>
            </a:r>
            <a:endParaRPr lang="en-US" sz="575" dirty="0"/>
          </a:p>
        </p:txBody>
      </p:sp>
      <p:sp>
        <p:nvSpPr>
          <p:cNvPr id="40" name="Shape 37"/>
          <p:cNvSpPr/>
          <p:nvPr/>
        </p:nvSpPr>
        <p:spPr>
          <a:xfrm>
            <a:off x="285750" y="4253322"/>
            <a:ext cx="4179094" cy="4886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285750" y="4253322"/>
            <a:ext cx="35719" cy="488621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2" name="Shape 39"/>
          <p:cNvSpPr/>
          <p:nvPr/>
        </p:nvSpPr>
        <p:spPr>
          <a:xfrm>
            <a:off x="400050" y="4367622"/>
            <a:ext cx="257175" cy="257175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3" name="Text 40"/>
          <p:cNvSpPr/>
          <p:nvPr/>
        </p:nvSpPr>
        <p:spPr>
          <a:xfrm>
            <a:off x="400050" y="436762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732" dirty="0"/>
          </a:p>
        </p:txBody>
      </p:sp>
      <p:sp>
        <p:nvSpPr>
          <p:cNvPr id="44" name="Text 41"/>
          <p:cNvSpPr/>
          <p:nvPr/>
        </p:nvSpPr>
        <p:spPr>
          <a:xfrm>
            <a:off x="742950" y="4367622"/>
            <a:ext cx="36075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28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Atualiza Interface</a:t>
            </a:r>
            <a:endParaRPr lang="en-US" sz="628" dirty="0"/>
          </a:p>
        </p:txBody>
      </p:sp>
      <p:sp>
        <p:nvSpPr>
          <p:cNvPr id="45" name="Text 42"/>
          <p:cNvSpPr/>
          <p:nvPr/>
        </p:nvSpPr>
        <p:spPr>
          <a:xfrm>
            <a:off x="742950" y="4517641"/>
            <a:ext cx="3607594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Média de avaliações recalculada e exibida em tempo real</a:t>
            </a:r>
            <a:endParaRPr lang="en-US" sz="575" dirty="0"/>
          </a:p>
        </p:txBody>
      </p:sp>
      <p:sp>
        <p:nvSpPr>
          <p:cNvPr id="46" name="Shape 43"/>
          <p:cNvSpPr/>
          <p:nvPr/>
        </p:nvSpPr>
        <p:spPr>
          <a:xfrm>
            <a:off x="4679156" y="892969"/>
            <a:ext cx="4179094" cy="1157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4679156" y="892969"/>
            <a:ext cx="35719" cy="11572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8" name="Text 45"/>
          <p:cNvSpPr/>
          <p:nvPr/>
        </p:nvSpPr>
        <p:spPr>
          <a:xfrm>
            <a:off x="4793456" y="1007269"/>
            <a:ext cx="3950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Enviados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4793456" y="1218009"/>
            <a:ext cx="39504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avaliação registra: </a:t>
            </a:r>
            <a:endParaRPr lang="en-US" sz="575" dirty="0"/>
          </a:p>
        </p:txBody>
      </p:sp>
      <p:sp>
        <p:nvSpPr>
          <p:cNvPr id="50" name="Text 47"/>
          <p:cNvSpPr/>
          <p:nvPr/>
        </p:nvSpPr>
        <p:spPr>
          <a:xfrm>
            <a:off x="4793456" y="1335881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 do usuário (aluno)</a:t>
            </a:r>
            <a:endParaRPr lang="en-US" sz="575" dirty="0"/>
          </a:p>
        </p:txBody>
      </p:sp>
      <p:sp>
        <p:nvSpPr>
          <p:cNvPr id="51" name="Text 48"/>
          <p:cNvSpPr/>
          <p:nvPr/>
        </p:nvSpPr>
        <p:spPr>
          <a:xfrm>
            <a:off x="4793456" y="1496616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 da refeição</a:t>
            </a:r>
            <a:endParaRPr lang="en-US" sz="575" dirty="0"/>
          </a:p>
        </p:txBody>
      </p:sp>
      <p:sp>
        <p:nvSpPr>
          <p:cNvPr id="52" name="Text 49"/>
          <p:cNvSpPr/>
          <p:nvPr/>
        </p:nvSpPr>
        <p:spPr>
          <a:xfrm>
            <a:off x="4793456" y="1657350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Nota (1 a 5)</a:t>
            </a:r>
            <a:endParaRPr lang="en-US" sz="575" dirty="0"/>
          </a:p>
        </p:txBody>
      </p:sp>
      <p:sp>
        <p:nvSpPr>
          <p:cNvPr id="53" name="Text 50"/>
          <p:cNvSpPr/>
          <p:nvPr/>
        </p:nvSpPr>
        <p:spPr>
          <a:xfrm>
            <a:off x="4793456" y="1818084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Data/hora de criação</a:t>
            </a:r>
            <a:endParaRPr lang="en-US" sz="575" dirty="0"/>
          </a:p>
        </p:txBody>
      </p:sp>
      <p:sp>
        <p:nvSpPr>
          <p:cNvPr id="54" name="Shape 51"/>
          <p:cNvSpPr/>
          <p:nvPr/>
        </p:nvSpPr>
        <p:spPr>
          <a:xfrm>
            <a:off x="4679156" y="2157413"/>
            <a:ext cx="4179094" cy="1157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4679156" y="2157413"/>
            <a:ext cx="35719" cy="11572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6" name="Text 53"/>
          <p:cNvSpPr/>
          <p:nvPr/>
        </p:nvSpPr>
        <p:spPr>
          <a:xfrm>
            <a:off x="4793456" y="2271713"/>
            <a:ext cx="3950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Validações</a:t>
            </a:r>
            <a:endParaRPr lang="en-US" sz="680" dirty="0"/>
          </a:p>
        </p:txBody>
      </p:sp>
      <p:sp>
        <p:nvSpPr>
          <p:cNvPr id="57" name="Text 54"/>
          <p:cNvSpPr/>
          <p:nvPr/>
        </p:nvSpPr>
        <p:spPr>
          <a:xfrm>
            <a:off x="4793456" y="2482453"/>
            <a:ext cx="39504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sistema garante: </a:t>
            </a:r>
            <a:endParaRPr lang="en-US" sz="575" dirty="0"/>
          </a:p>
        </p:txBody>
      </p:sp>
      <p:sp>
        <p:nvSpPr>
          <p:cNvPr id="58" name="Text 55"/>
          <p:cNvSpPr/>
          <p:nvPr/>
        </p:nvSpPr>
        <p:spPr>
          <a:xfrm>
            <a:off x="4793456" y="2600325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Nota entre 1 e 5</a:t>
            </a:r>
            <a:endParaRPr lang="en-US" sz="575" dirty="0"/>
          </a:p>
        </p:txBody>
      </p:sp>
      <p:sp>
        <p:nvSpPr>
          <p:cNvPr id="59" name="Text 56"/>
          <p:cNvSpPr/>
          <p:nvPr/>
        </p:nvSpPr>
        <p:spPr>
          <a:xfrm>
            <a:off x="4793456" y="2761059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Usuário existe no banco</a:t>
            </a:r>
            <a:endParaRPr lang="en-US" sz="575" dirty="0"/>
          </a:p>
        </p:txBody>
      </p:sp>
      <p:sp>
        <p:nvSpPr>
          <p:cNvPr id="60" name="Text 57"/>
          <p:cNvSpPr/>
          <p:nvPr/>
        </p:nvSpPr>
        <p:spPr>
          <a:xfrm>
            <a:off x="4793456" y="2921794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Refeição existe no banco</a:t>
            </a:r>
            <a:endParaRPr lang="en-US" sz="575" dirty="0"/>
          </a:p>
        </p:txBody>
      </p:sp>
      <p:sp>
        <p:nvSpPr>
          <p:cNvPr id="61" name="Text 58"/>
          <p:cNvSpPr/>
          <p:nvPr/>
        </p:nvSpPr>
        <p:spPr>
          <a:xfrm>
            <a:off x="4793456" y="3082528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visual imediato</a:t>
            </a:r>
            <a:endParaRPr lang="en-US" sz="575" dirty="0"/>
          </a:p>
        </p:txBody>
      </p:sp>
      <p:sp>
        <p:nvSpPr>
          <p:cNvPr id="62" name="Shape 59"/>
          <p:cNvSpPr/>
          <p:nvPr/>
        </p:nvSpPr>
        <p:spPr>
          <a:xfrm>
            <a:off x="4679156" y="3421856"/>
            <a:ext cx="4179094" cy="1741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4679156" y="3421856"/>
            <a:ext cx="35719" cy="174162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4" name="Text 61"/>
          <p:cNvSpPr/>
          <p:nvPr/>
        </p:nvSpPr>
        <p:spPr>
          <a:xfrm>
            <a:off x="4793456" y="3536156"/>
            <a:ext cx="39504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Cálculo da Média</a:t>
            </a:r>
            <a:endParaRPr lang="en-US" sz="680" dirty="0"/>
          </a:p>
        </p:txBody>
      </p:sp>
      <p:sp>
        <p:nvSpPr>
          <p:cNvPr id="65" name="Text 62"/>
          <p:cNvSpPr/>
          <p:nvPr/>
        </p:nvSpPr>
        <p:spPr>
          <a:xfrm>
            <a:off x="4793456" y="3746897"/>
            <a:ext cx="39504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média é calculada automaticamente: </a:t>
            </a:r>
            <a:endParaRPr lang="en-US" sz="575" dirty="0"/>
          </a:p>
        </p:txBody>
      </p:sp>
      <p:sp>
        <p:nvSpPr>
          <p:cNvPr id="66" name="Text 63"/>
          <p:cNvSpPr/>
          <p:nvPr/>
        </p:nvSpPr>
        <p:spPr>
          <a:xfrm>
            <a:off x="4793456" y="3864769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Soma todas as notas</a:t>
            </a:r>
            <a:endParaRPr lang="en-US" sz="575" dirty="0"/>
          </a:p>
        </p:txBody>
      </p:sp>
      <p:sp>
        <p:nvSpPr>
          <p:cNvPr id="67" name="Text 64"/>
          <p:cNvSpPr/>
          <p:nvPr/>
        </p:nvSpPr>
        <p:spPr>
          <a:xfrm>
            <a:off x="4793456" y="4025503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Divide pelo número de votos</a:t>
            </a:r>
            <a:endParaRPr lang="en-US" sz="575" dirty="0"/>
          </a:p>
        </p:txBody>
      </p:sp>
      <p:sp>
        <p:nvSpPr>
          <p:cNvPr id="68" name="Text 65"/>
          <p:cNvSpPr/>
          <p:nvPr/>
        </p:nvSpPr>
        <p:spPr>
          <a:xfrm>
            <a:off x="4793456" y="4186238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Arredonda para 2 casas decimais</a:t>
            </a:r>
            <a:endParaRPr lang="en-US" sz="575" dirty="0"/>
          </a:p>
        </p:txBody>
      </p:sp>
      <p:sp>
        <p:nvSpPr>
          <p:cNvPr id="69" name="Text 66"/>
          <p:cNvSpPr/>
          <p:nvPr/>
        </p:nvSpPr>
        <p:spPr>
          <a:xfrm>
            <a:off x="4793456" y="4346972"/>
            <a:ext cx="3950494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Atualiza em tempo real</a:t>
            </a:r>
            <a:endParaRPr lang="en-US" sz="575" dirty="0"/>
          </a:p>
        </p:txBody>
      </p:sp>
      <p:sp>
        <p:nvSpPr>
          <p:cNvPr id="70" name="Shape 67"/>
          <p:cNvSpPr/>
          <p:nvPr/>
        </p:nvSpPr>
        <p:spPr>
          <a:xfrm>
            <a:off x="4793456" y="4521994"/>
            <a:ext cx="3950494" cy="52718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1" name="Shape 68"/>
          <p:cNvSpPr/>
          <p:nvPr/>
        </p:nvSpPr>
        <p:spPr>
          <a:xfrm>
            <a:off x="4793456" y="4521994"/>
            <a:ext cx="21431" cy="52718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2" name="Text 69"/>
          <p:cNvSpPr/>
          <p:nvPr/>
        </p:nvSpPr>
        <p:spPr>
          <a:xfrm>
            <a:off x="4879181" y="4607719"/>
            <a:ext cx="37790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23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Feedback ao Usuário</a:t>
            </a:r>
            <a:endParaRPr lang="en-US" sz="523" dirty="0"/>
          </a:p>
        </p:txBody>
      </p:sp>
      <p:sp>
        <p:nvSpPr>
          <p:cNvPr id="73" name="Text 70"/>
          <p:cNvSpPr/>
          <p:nvPr/>
        </p:nvSpPr>
        <p:spPr>
          <a:xfrm>
            <a:off x="4879181" y="4743450"/>
            <a:ext cx="3779044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Mensagem de sucesso é exibida após envio, e a interface atualiza automaticamente com a nova média. </a:t>
            </a:r>
            <a:endParaRPr lang="en-US" sz="5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78631"/>
          </a:xfrm>
          <a:prstGeom prst="rect">
            <a:avLst/>
          </a:prstGeom>
          <a:noFill/>
          <a:ln/>
        </p:spPr>
        <p:txBody>
          <a:bodyPr wrap="none" lIns="0" tIns="0" rIns="0" bIns="1275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Alcançados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64431"/>
            <a:ext cx="8286750" cy="25688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64431"/>
            <a:ext cx="35719" cy="256884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1450181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450181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143000" y="1450181"/>
            <a:ext cx="3321844" cy="348593"/>
          </a:xfrm>
          <a:prstGeom prst="rect">
            <a:avLst/>
          </a:prstGeom>
          <a:noFill/>
          <a:ln/>
        </p:spPr>
        <p:txBody>
          <a:bodyPr wrap="squar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Desenvolvimento full-stack completo com front-end e back-end integrados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4679156" y="1450181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7"/>
          <p:cNvSpPr/>
          <p:nvPr/>
        </p:nvSpPr>
        <p:spPr>
          <a:xfrm>
            <a:off x="4679156" y="1450181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5107781" y="1450181"/>
            <a:ext cx="332184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Implementação de todas as 6 histórias de usuário (Sprint 1 e Sprint 2)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714375" y="2013086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0"/>
          <p:cNvSpPr/>
          <p:nvPr/>
        </p:nvSpPr>
        <p:spPr>
          <a:xfrm>
            <a:off x="714375" y="201308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1143000" y="2013086"/>
            <a:ext cx="332184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responsiva e intuitiva para múltiplos dispositivos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4679156" y="2013086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3"/>
          <p:cNvSpPr/>
          <p:nvPr/>
        </p:nvSpPr>
        <p:spPr>
          <a:xfrm>
            <a:off x="4679156" y="201308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5107781" y="2013086"/>
            <a:ext cx="332184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REST funcional e documentada com 11 endpoints</a:t>
            </a:r>
            <a:endParaRPr lang="en-US" sz="732" dirty="0"/>
          </a:p>
        </p:txBody>
      </p:sp>
      <p:sp>
        <p:nvSpPr>
          <p:cNvPr id="18" name="Shape 15"/>
          <p:cNvSpPr/>
          <p:nvPr/>
        </p:nvSpPr>
        <p:spPr>
          <a:xfrm>
            <a:off x="714375" y="2513149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251314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1143000" y="2513149"/>
            <a:ext cx="332184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Banco de dados estruturado com 4 tabelas relacionadas</a:t>
            </a:r>
            <a:endParaRPr lang="en-US" sz="732" dirty="0"/>
          </a:p>
        </p:txBody>
      </p:sp>
      <p:sp>
        <p:nvSpPr>
          <p:cNvPr id="21" name="Shape 18"/>
          <p:cNvSpPr/>
          <p:nvPr/>
        </p:nvSpPr>
        <p:spPr>
          <a:xfrm>
            <a:off x="4679156" y="2513149"/>
            <a:ext cx="285750" cy="28575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19"/>
          <p:cNvSpPr/>
          <p:nvPr/>
        </p:nvSpPr>
        <p:spPr>
          <a:xfrm>
            <a:off x="4679156" y="2513149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5107781" y="2513149"/>
            <a:ext cx="3321844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Aplicação pronta para demonstração e apresentação</a:t>
            </a:r>
            <a:endParaRPr lang="en-US" sz="732" dirty="0"/>
          </a:p>
        </p:txBody>
      </p:sp>
      <p:sp>
        <p:nvSpPr>
          <p:cNvPr id="24" name="Shape 21"/>
          <p:cNvSpPr/>
          <p:nvPr/>
        </p:nvSpPr>
        <p:spPr>
          <a:xfrm>
            <a:off x="714375" y="3013211"/>
            <a:ext cx="7715250" cy="43431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5" name="Shape 22"/>
          <p:cNvSpPr/>
          <p:nvPr/>
        </p:nvSpPr>
        <p:spPr>
          <a:xfrm>
            <a:off x="714375" y="3013211"/>
            <a:ext cx="28575" cy="43431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3"/>
          <p:cNvSpPr/>
          <p:nvPr/>
        </p:nvSpPr>
        <p:spPr>
          <a:xfrm>
            <a:off x="714375" y="3013211"/>
            <a:ext cx="7715250" cy="43431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Próximo slide: Impacto do sistema na comunidade escolar e métricas finais do projeto 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9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457200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e Resultados Finais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285750" y="857250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57250"/>
            <a:ext cx="35719" cy="1060847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3"/>
          <p:cNvSpPr/>
          <p:nvPr/>
        </p:nvSpPr>
        <p:spPr>
          <a:xfrm>
            <a:off x="414338" y="985838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📞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414338" y="1357313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Comunicação Melhorada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414338" y="1553766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Facilita diálogo entre escola e alunos sobre refeições e preferências alimentares</a:t>
            </a:r>
            <a:endParaRPr lang="en-US" sz="575" dirty="0"/>
          </a:p>
        </p:txBody>
      </p:sp>
      <p:sp>
        <p:nvSpPr>
          <p:cNvPr id="9" name="Shape 6"/>
          <p:cNvSpPr/>
          <p:nvPr/>
        </p:nvSpPr>
        <p:spPr>
          <a:xfrm>
            <a:off x="3178969" y="857250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178969" y="857250"/>
            <a:ext cx="35719" cy="106084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8"/>
          <p:cNvSpPr/>
          <p:nvPr/>
        </p:nvSpPr>
        <p:spPr>
          <a:xfrm>
            <a:off x="3307556" y="985838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📊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3307556" y="1357313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Feedback Estruturado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3307556" y="1553766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Coleta sistemática de avaliações e comentários dos alunos sobre o cardápio</a:t>
            </a:r>
            <a:endParaRPr lang="en-US" sz="575" dirty="0"/>
          </a:p>
        </p:txBody>
      </p:sp>
      <p:sp>
        <p:nvSpPr>
          <p:cNvPr id="14" name="Shape 11"/>
          <p:cNvSpPr/>
          <p:nvPr/>
        </p:nvSpPr>
        <p:spPr>
          <a:xfrm>
            <a:off x="6072188" y="857250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72188" y="857250"/>
            <a:ext cx="35719" cy="1060847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3"/>
          <p:cNvSpPr/>
          <p:nvPr/>
        </p:nvSpPr>
        <p:spPr>
          <a:xfrm>
            <a:off x="6200775" y="985838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6200775" y="1357313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Decisões Baseadas em Dados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6200775" y="1553766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Administradores podem tomar decisões sobre cardápio futuro com base em dados reais</a:t>
            </a:r>
            <a:endParaRPr lang="en-US" sz="575" dirty="0"/>
          </a:p>
        </p:txBody>
      </p:sp>
      <p:sp>
        <p:nvSpPr>
          <p:cNvPr id="19" name="Shape 16"/>
          <p:cNvSpPr/>
          <p:nvPr/>
        </p:nvSpPr>
        <p:spPr>
          <a:xfrm>
            <a:off x="285750" y="2025253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2025253"/>
            <a:ext cx="35719" cy="106084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8"/>
          <p:cNvSpPr/>
          <p:nvPr/>
        </p:nvSpPr>
        <p:spPr>
          <a:xfrm>
            <a:off x="414338" y="2153841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⭐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414338" y="2525316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Melhoria Contínua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14338" y="2721769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Identificação de pontos de melhoria na merenda escolar através de feedback direto</a:t>
            </a:r>
            <a:endParaRPr lang="en-US" sz="575" dirty="0"/>
          </a:p>
        </p:txBody>
      </p:sp>
      <p:sp>
        <p:nvSpPr>
          <p:cNvPr id="24" name="Shape 21"/>
          <p:cNvSpPr/>
          <p:nvPr/>
        </p:nvSpPr>
        <p:spPr>
          <a:xfrm>
            <a:off x="3178969" y="2025253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3178969" y="2025253"/>
            <a:ext cx="35719" cy="1060847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6" name="Text 23"/>
          <p:cNvSpPr/>
          <p:nvPr/>
        </p:nvSpPr>
        <p:spPr>
          <a:xfrm>
            <a:off x="3307556" y="2153841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👥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3307556" y="2525316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Engajamento Estudantil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3307556" y="2721769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Alunos sentem-se ouvidos e valorizados ao poder expressar suas opiniões</a:t>
            </a:r>
            <a:endParaRPr lang="en-US" sz="575" dirty="0"/>
          </a:p>
        </p:txBody>
      </p:sp>
      <p:sp>
        <p:nvSpPr>
          <p:cNvPr id="29" name="Shape 26"/>
          <p:cNvSpPr/>
          <p:nvPr/>
        </p:nvSpPr>
        <p:spPr>
          <a:xfrm>
            <a:off x="6072188" y="2025253"/>
            <a:ext cx="2786063" cy="10608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6072188" y="2025253"/>
            <a:ext cx="35719" cy="1060847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1" name="Text 28"/>
          <p:cNvSpPr/>
          <p:nvPr/>
        </p:nvSpPr>
        <p:spPr>
          <a:xfrm>
            <a:off x="6200775" y="2153841"/>
            <a:ext cx="25288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✨</a:t>
            </a:r>
            <a:endParaRPr lang="en-US" sz="1575" dirty="0"/>
          </a:p>
        </p:txBody>
      </p:sp>
      <p:sp>
        <p:nvSpPr>
          <p:cNvPr id="32" name="Text 29"/>
          <p:cNvSpPr/>
          <p:nvPr/>
        </p:nvSpPr>
        <p:spPr>
          <a:xfrm>
            <a:off x="6200775" y="2525316"/>
            <a:ext cx="2528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Entregue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6200775" y="2721769"/>
            <a:ext cx="25288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7F8C8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prático que melhora a experiência escolar e qualidade de vida dos alunos</a:t>
            </a:r>
            <a:endParaRPr lang="en-US" sz="575" dirty="0"/>
          </a:p>
        </p:txBody>
      </p:sp>
      <p:sp>
        <p:nvSpPr>
          <p:cNvPr id="34" name="Shape 31"/>
          <p:cNvSpPr/>
          <p:nvPr/>
        </p:nvSpPr>
        <p:spPr>
          <a:xfrm>
            <a:off x="285750" y="3228975"/>
            <a:ext cx="8572500" cy="1550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285750" y="3228975"/>
            <a:ext cx="35719" cy="155086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6" name="Text 33"/>
          <p:cNvSpPr/>
          <p:nvPr/>
        </p:nvSpPr>
        <p:spPr>
          <a:xfrm>
            <a:off x="414338" y="3357563"/>
            <a:ext cx="83153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Resumo Final</a:t>
            </a:r>
            <a:endParaRPr lang="en-US" sz="785" dirty="0"/>
          </a:p>
        </p:txBody>
      </p:sp>
      <p:sp>
        <p:nvSpPr>
          <p:cNvPr id="37" name="Text 34"/>
          <p:cNvSpPr/>
          <p:nvPr/>
        </p:nvSpPr>
        <p:spPr>
          <a:xfrm>
            <a:off x="414338" y="3589734"/>
            <a:ext cx="8315325" cy="25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75" dirty="0">
                <a:solidFill>
                  <a:srgbClr val="34495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Sistema de Cardápio Escolar foi desenvolvido com sucesso como um projeto acadêmico completo, demonstrando habilidades de engenharia de software, desenvolvimento full-stack e aplicação prática da metodologia Scrum. O sistema implementa todas as funcionalidades planejadas, fornece uma experiência de usuário intuitiva e oferece valor real para a comunidade escolar. </a:t>
            </a:r>
            <a:endParaRPr lang="en-US" sz="575" dirty="0"/>
          </a:p>
        </p:txBody>
      </p:sp>
      <p:sp>
        <p:nvSpPr>
          <p:cNvPr id="38" name="Shape 35"/>
          <p:cNvSpPr/>
          <p:nvPr/>
        </p:nvSpPr>
        <p:spPr>
          <a:xfrm>
            <a:off x="414338" y="3912598"/>
            <a:ext cx="2700338" cy="738653"/>
          </a:xfrm>
          <a:prstGeom prst="rect">
            <a:avLst/>
          </a:prstGeom>
          <a:solidFill>
            <a:srgbClr val="F9F9F9"/>
          </a:solidFill>
          <a:ln w="198">
            <a:solidFill>
              <a:srgbClr val="ECF0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4350" y="4012611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14350" y="4412661"/>
            <a:ext cx="2500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Histórias de Usuário Implementadas</a:t>
            </a:r>
            <a:endParaRPr lang="en-US" sz="575" dirty="0"/>
          </a:p>
        </p:txBody>
      </p:sp>
      <p:sp>
        <p:nvSpPr>
          <p:cNvPr id="41" name="Shape 38"/>
          <p:cNvSpPr/>
          <p:nvPr/>
        </p:nvSpPr>
        <p:spPr>
          <a:xfrm>
            <a:off x="3221831" y="3912598"/>
            <a:ext cx="2700338" cy="738653"/>
          </a:xfrm>
          <a:prstGeom prst="rect">
            <a:avLst/>
          </a:prstGeom>
          <a:solidFill>
            <a:srgbClr val="F9F9F9"/>
          </a:solidFill>
          <a:ln w="198">
            <a:solidFill>
              <a:srgbClr val="ECF0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21844" y="4012611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3321844" y="4412661"/>
            <a:ext cx="2500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Endpoints da API REST</a:t>
            </a:r>
            <a:endParaRPr lang="en-US" sz="575" dirty="0"/>
          </a:p>
        </p:txBody>
      </p:sp>
      <p:sp>
        <p:nvSpPr>
          <p:cNvPr id="44" name="Shape 41"/>
          <p:cNvSpPr/>
          <p:nvPr/>
        </p:nvSpPr>
        <p:spPr>
          <a:xfrm>
            <a:off x="6029325" y="3912598"/>
            <a:ext cx="2700338" cy="738653"/>
          </a:xfrm>
          <a:prstGeom prst="rect">
            <a:avLst/>
          </a:prstGeom>
          <a:solidFill>
            <a:srgbClr val="F9F9F9"/>
          </a:solidFill>
          <a:ln w="198">
            <a:solidFill>
              <a:srgbClr val="ECF0F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29338" y="4012611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6129338" y="4412661"/>
            <a:ext cx="2500313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75" b="1" dirty="0">
                <a:solidFill>
                  <a:srgbClr val="2C3E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Tabelas do Banco de Dados</a:t>
            </a:r>
            <a:endParaRPr lang="en-US" sz="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2025-10-26T19:46:30Z</dcterms:created>
  <dcterms:modified xsi:type="dcterms:W3CDTF">2025-10-26T19:46:30Z</dcterms:modified>
</cp:coreProperties>
</file>